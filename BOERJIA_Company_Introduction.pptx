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</p:sldIdLst>
  <p:notesMasterIdLst>
    <p:notesMasterId r:id="rId9"/>
  </p:notesMasterIdLst>
  <p:sldSz cx="9144000" cy="5143500"/>
  <p:notesSz cx="5143500" cy="9144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notesMaster" Target="notesMasters/notesMaster1.xml"/><Relationship Id="rId10" Type="http://schemas.openxmlformats.org/officeDocument/2006/relationships/presProps" Target="presProps.xml"/><Relationship Id="rId11" Type="http://schemas.openxmlformats.org/officeDocument/2006/relationships/viewProps" Target="viewProps.xml"/><Relationship Id="rId12" Type="http://schemas.openxmlformats.org/officeDocument/2006/relationships/theme" Target="theme/theme1.xml"/><Relationship Id="rId13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7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0D1B2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73152"/>
          </a:xfrm>
          <a:prstGeom prst="rect">
            <a:avLst/>
          </a:prstGeom>
          <a:solidFill>
            <a:srgbClr val="92BDDD"/>
          </a:solidFill>
          <a:ln/>
        </p:spPr>
      </p:sp>
      <p:sp>
        <p:nvSpPr>
          <p:cNvPr id="3" name="Shape 1"/>
          <p:cNvSpPr/>
          <p:nvPr/>
        </p:nvSpPr>
        <p:spPr>
          <a:xfrm>
            <a:off x="0" y="4732020"/>
            <a:ext cx="9144000" cy="73152"/>
          </a:xfrm>
          <a:prstGeom prst="rect">
            <a:avLst/>
          </a:prstGeom>
          <a:solidFill>
            <a:srgbClr val="92BDDD"/>
          </a:solidFill>
          <a:ln/>
        </p:spPr>
      </p:sp>
      <p:sp>
        <p:nvSpPr>
          <p:cNvPr id="4" name="Shape 2"/>
          <p:cNvSpPr/>
          <p:nvPr/>
        </p:nvSpPr>
        <p:spPr>
          <a:xfrm>
            <a:off x="548640" y="1645920"/>
            <a:ext cx="54864" cy="2286000"/>
          </a:xfrm>
          <a:prstGeom prst="rect">
            <a:avLst/>
          </a:prstGeom>
          <a:solidFill>
            <a:srgbClr val="00A3E0"/>
          </a:solidFill>
          <a:ln/>
        </p:spPr>
      </p:sp>
      <p:sp>
        <p:nvSpPr>
          <p:cNvPr id="5" name="Text 3"/>
          <p:cNvSpPr/>
          <p:nvPr/>
        </p:nvSpPr>
        <p:spPr>
          <a:xfrm>
            <a:off x="914400" y="1645920"/>
            <a:ext cx="6400800" cy="10972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4800" b="1" dirty="0">
                <a:solidFill>
                  <a:srgbClr val="FFFFFF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BOERJIA</a:t>
            </a:r>
            <a:endParaRPr lang="en-US" sz="4800" dirty="0"/>
          </a:p>
        </p:txBody>
      </p:sp>
      <p:sp>
        <p:nvSpPr>
          <p:cNvPr id="6" name="Text 4"/>
          <p:cNvSpPr/>
          <p:nvPr/>
        </p:nvSpPr>
        <p:spPr>
          <a:xfrm>
            <a:off x="914400" y="2651760"/>
            <a:ext cx="64008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200" dirty="0">
                <a:solidFill>
                  <a:srgbClr val="92BDD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LUBRICANTS</a:t>
            </a:r>
            <a:endParaRPr lang="en-US" sz="2200" dirty="0"/>
          </a:p>
        </p:txBody>
      </p:sp>
      <p:sp>
        <p:nvSpPr>
          <p:cNvPr id="7" name="Shape 5"/>
          <p:cNvSpPr/>
          <p:nvPr/>
        </p:nvSpPr>
        <p:spPr>
          <a:xfrm>
            <a:off x="914400" y="3383280"/>
            <a:ext cx="2743200" cy="27432"/>
          </a:xfrm>
          <a:prstGeom prst="rect">
            <a:avLst/>
          </a:prstGeom>
          <a:solidFill>
            <a:srgbClr val="00A3E0"/>
          </a:solidFill>
          <a:ln/>
        </p:spPr>
      </p:sp>
      <p:sp>
        <p:nvSpPr>
          <p:cNvPr id="8" name="Text 6"/>
          <p:cNvSpPr/>
          <p:nvPr/>
        </p:nvSpPr>
        <p:spPr>
          <a:xfrm>
            <a:off x="914400" y="3566160"/>
            <a:ext cx="64008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CCCC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Professional Lubricant Manufacturer Since 2007</a:t>
            </a:r>
            <a:endParaRPr lang="en-US" sz="1400" dirty="0"/>
          </a:p>
        </p:txBody>
      </p:sp>
      <p:sp>
        <p:nvSpPr>
          <p:cNvPr id="9" name="Text 7"/>
          <p:cNvSpPr/>
          <p:nvPr/>
        </p:nvSpPr>
        <p:spPr>
          <a:xfrm>
            <a:off x="914400" y="4114800"/>
            <a:ext cx="64008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92BDD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OEM / ODM  |  Worldwide Shipping  |  Flexible MOQ</a:t>
            </a:r>
            <a:endParaRPr lang="en-US" sz="1100" dirty="0"/>
          </a:p>
        </p:txBody>
      </p:sp>
      <p:sp>
        <p:nvSpPr>
          <p:cNvPr id="10" name="Text 8"/>
          <p:cNvSpPr/>
          <p:nvPr/>
        </p:nvSpPr>
        <p:spPr>
          <a:xfrm>
            <a:off x="548640" y="4754880"/>
            <a:ext cx="804672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66666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WhatsApp: +852 6193 7889  |  www.boerjia-oil.com  |  bailuguang@gmail.com</a:t>
            </a:r>
            <a:endParaRPr lang="en-US" sz="9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54864"/>
          </a:xfrm>
          <a:prstGeom prst="rect">
            <a:avLst/>
          </a:prstGeom>
          <a:solidFill>
            <a:srgbClr val="0066CC"/>
          </a:solidFill>
          <a:ln/>
        </p:spPr>
      </p:sp>
      <p:sp>
        <p:nvSpPr>
          <p:cNvPr id="3" name="Text 1"/>
          <p:cNvSpPr/>
          <p:nvPr/>
        </p:nvSpPr>
        <p:spPr>
          <a:xfrm>
            <a:off x="548640" y="274320"/>
            <a:ext cx="731520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0D1B2A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Company Overview</a:t>
            </a:r>
            <a:endParaRPr lang="en-US" sz="2800" dirty="0"/>
          </a:p>
        </p:txBody>
      </p:sp>
      <p:sp>
        <p:nvSpPr>
          <p:cNvPr id="4" name="Shape 2"/>
          <p:cNvSpPr/>
          <p:nvPr/>
        </p:nvSpPr>
        <p:spPr>
          <a:xfrm>
            <a:off x="548640" y="960120"/>
            <a:ext cx="1371600" cy="36576"/>
          </a:xfrm>
          <a:prstGeom prst="rect">
            <a:avLst/>
          </a:prstGeom>
          <a:solidFill>
            <a:srgbClr val="00A3E0"/>
          </a:solidFill>
          <a:ln/>
        </p:spPr>
      </p:sp>
      <p:sp>
        <p:nvSpPr>
          <p:cNvPr id="5" name="Text 3"/>
          <p:cNvSpPr/>
          <p:nvPr/>
        </p:nvSpPr>
        <p:spPr>
          <a:xfrm>
            <a:off x="548640" y="1188720"/>
            <a:ext cx="804672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50000"/>
              </a:lnSpc>
              <a:buNone/>
            </a:pPr>
            <a:r>
              <a:rPr lang="en-US" sz="1200" dirty="0">
                <a:solidFill>
                  <a:srgbClr val="66666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Shandong Boerjia Petrochemical Technology Co., Ltd. is a professional lubricant manufacturer established in 2007. We specialize in R&amp;D, production, and distribution of high-quality lubricating products for automotive, industrial, and marine applications.</a:t>
            </a:r>
            <a:endParaRPr lang="en-US" sz="1200" dirty="0"/>
          </a:p>
        </p:txBody>
      </p:sp>
      <p:sp>
        <p:nvSpPr>
          <p:cNvPr id="6" name="Shape 4"/>
          <p:cNvSpPr/>
          <p:nvPr/>
        </p:nvSpPr>
        <p:spPr>
          <a:xfrm>
            <a:off x="548640" y="2286000"/>
            <a:ext cx="1920240" cy="1280160"/>
          </a:xfrm>
          <a:prstGeom prst="roundRect">
            <a:avLst>
              <a:gd name="adj" fmla="val 7143"/>
            </a:avLst>
          </a:prstGeom>
          <a:solidFill>
            <a:srgbClr val="F0F7FC"/>
          </a:solidFill>
          <a:ln w="12700">
            <a:solidFill>
              <a:srgbClr val="92BDDD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548640" y="2377440"/>
            <a:ext cx="192024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3000" dirty="0">
                <a:solidFill>
                  <a:srgbClr val="0066CC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18+</a:t>
            </a:r>
            <a:endParaRPr lang="en-US" sz="3000" dirty="0"/>
          </a:p>
        </p:txBody>
      </p:sp>
      <p:sp>
        <p:nvSpPr>
          <p:cNvPr id="8" name="Text 6"/>
          <p:cNvSpPr/>
          <p:nvPr/>
        </p:nvSpPr>
        <p:spPr>
          <a:xfrm>
            <a:off x="548640" y="3017520"/>
            <a:ext cx="192024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66666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Years Experience</a:t>
            </a:r>
            <a:endParaRPr lang="en-US" sz="1000" dirty="0"/>
          </a:p>
        </p:txBody>
      </p:sp>
      <p:sp>
        <p:nvSpPr>
          <p:cNvPr id="9" name="Shape 7"/>
          <p:cNvSpPr/>
          <p:nvPr/>
        </p:nvSpPr>
        <p:spPr>
          <a:xfrm>
            <a:off x="2697480" y="2286000"/>
            <a:ext cx="1920240" cy="1280160"/>
          </a:xfrm>
          <a:prstGeom prst="roundRect">
            <a:avLst>
              <a:gd name="adj" fmla="val 7143"/>
            </a:avLst>
          </a:prstGeom>
          <a:solidFill>
            <a:srgbClr val="FFFFFF"/>
          </a:solidFill>
          <a:ln w="12700">
            <a:solidFill>
              <a:srgbClr val="92BDDD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2697480" y="2377440"/>
            <a:ext cx="192024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3000" dirty="0">
                <a:solidFill>
                  <a:srgbClr val="0066CC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50,000+</a:t>
            </a:r>
            <a:endParaRPr lang="en-US" sz="3000" dirty="0"/>
          </a:p>
        </p:txBody>
      </p:sp>
      <p:sp>
        <p:nvSpPr>
          <p:cNvPr id="11" name="Text 9"/>
          <p:cNvSpPr/>
          <p:nvPr/>
        </p:nvSpPr>
        <p:spPr>
          <a:xfrm>
            <a:off x="2697480" y="3017520"/>
            <a:ext cx="192024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66666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Tons/Year Capacity</a:t>
            </a:r>
            <a:endParaRPr lang="en-US" sz="1000" dirty="0"/>
          </a:p>
        </p:txBody>
      </p:sp>
      <p:sp>
        <p:nvSpPr>
          <p:cNvPr id="12" name="Shape 10"/>
          <p:cNvSpPr/>
          <p:nvPr/>
        </p:nvSpPr>
        <p:spPr>
          <a:xfrm>
            <a:off x="4846320" y="2286000"/>
            <a:ext cx="1920240" cy="1280160"/>
          </a:xfrm>
          <a:prstGeom prst="roundRect">
            <a:avLst>
              <a:gd name="adj" fmla="val 7143"/>
            </a:avLst>
          </a:prstGeom>
          <a:solidFill>
            <a:srgbClr val="F0F7FC"/>
          </a:solidFill>
          <a:ln w="12700">
            <a:solidFill>
              <a:srgbClr val="92BDDD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4846320" y="2377440"/>
            <a:ext cx="192024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3000" dirty="0">
                <a:solidFill>
                  <a:srgbClr val="0066CC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50+</a:t>
            </a:r>
            <a:endParaRPr lang="en-US" sz="3000" dirty="0"/>
          </a:p>
        </p:txBody>
      </p:sp>
      <p:sp>
        <p:nvSpPr>
          <p:cNvPr id="14" name="Text 12"/>
          <p:cNvSpPr/>
          <p:nvPr/>
        </p:nvSpPr>
        <p:spPr>
          <a:xfrm>
            <a:off x="4846320" y="3017520"/>
            <a:ext cx="192024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66666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Countries Served</a:t>
            </a:r>
            <a:endParaRPr lang="en-US" sz="1000" dirty="0"/>
          </a:p>
        </p:txBody>
      </p:sp>
      <p:sp>
        <p:nvSpPr>
          <p:cNvPr id="15" name="Shape 13"/>
          <p:cNvSpPr/>
          <p:nvPr/>
        </p:nvSpPr>
        <p:spPr>
          <a:xfrm>
            <a:off x="6995160" y="2286000"/>
            <a:ext cx="1920240" cy="1280160"/>
          </a:xfrm>
          <a:prstGeom prst="roundRect">
            <a:avLst>
              <a:gd name="adj" fmla="val 7143"/>
            </a:avLst>
          </a:prstGeom>
          <a:solidFill>
            <a:srgbClr val="FFFFFF"/>
          </a:solidFill>
          <a:ln w="12700">
            <a:solidFill>
              <a:srgbClr val="92BDDD"/>
            </a:solidFill>
            <a:prstDash val="solid"/>
          </a:ln>
        </p:spPr>
      </p:sp>
      <p:sp>
        <p:nvSpPr>
          <p:cNvPr id="16" name="Text 14"/>
          <p:cNvSpPr/>
          <p:nvPr/>
        </p:nvSpPr>
        <p:spPr>
          <a:xfrm>
            <a:off x="6995160" y="2377440"/>
            <a:ext cx="192024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3000" dirty="0">
                <a:solidFill>
                  <a:srgbClr val="0066CC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200+</a:t>
            </a:r>
            <a:endParaRPr lang="en-US" sz="3000" dirty="0"/>
          </a:p>
        </p:txBody>
      </p:sp>
      <p:sp>
        <p:nvSpPr>
          <p:cNvPr id="17" name="Text 15"/>
          <p:cNvSpPr/>
          <p:nvPr/>
        </p:nvSpPr>
        <p:spPr>
          <a:xfrm>
            <a:off x="6995160" y="3017520"/>
            <a:ext cx="192024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66666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Product SKUs</a:t>
            </a:r>
            <a:endParaRPr lang="en-US" sz="1000" dirty="0"/>
          </a:p>
        </p:txBody>
      </p:sp>
      <p:sp>
        <p:nvSpPr>
          <p:cNvPr id="18" name="Text 16"/>
          <p:cNvSpPr/>
          <p:nvPr/>
        </p:nvSpPr>
        <p:spPr>
          <a:xfrm>
            <a:off x="548640" y="3840480"/>
            <a:ext cx="36576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0D1B2A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Certifications &amp; Standards</a:t>
            </a:r>
            <a:endParaRPr lang="en-US" sz="1400" dirty="0"/>
          </a:p>
        </p:txBody>
      </p:sp>
      <p:sp>
        <p:nvSpPr>
          <p:cNvPr id="19" name="Shape 17"/>
          <p:cNvSpPr/>
          <p:nvPr/>
        </p:nvSpPr>
        <p:spPr>
          <a:xfrm>
            <a:off x="548640" y="4297680"/>
            <a:ext cx="1920240" cy="411480"/>
          </a:xfrm>
          <a:prstGeom prst="roundRect">
            <a:avLst>
              <a:gd name="adj" fmla="val 11111"/>
            </a:avLst>
          </a:prstGeom>
          <a:solidFill>
            <a:srgbClr val="0066CC"/>
          </a:solidFill>
          <a:ln/>
        </p:spPr>
      </p:sp>
      <p:sp>
        <p:nvSpPr>
          <p:cNvPr id="20" name="Text 18"/>
          <p:cNvSpPr/>
          <p:nvPr/>
        </p:nvSpPr>
        <p:spPr>
          <a:xfrm>
            <a:off x="548640" y="4297680"/>
            <a:ext cx="192024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ISO 9001:2015</a:t>
            </a:r>
            <a:endParaRPr lang="en-US" sz="1100" dirty="0"/>
          </a:p>
        </p:txBody>
      </p:sp>
      <p:sp>
        <p:nvSpPr>
          <p:cNvPr id="21" name="Shape 19"/>
          <p:cNvSpPr/>
          <p:nvPr/>
        </p:nvSpPr>
        <p:spPr>
          <a:xfrm>
            <a:off x="2697480" y="4297680"/>
            <a:ext cx="1920240" cy="411480"/>
          </a:xfrm>
          <a:prstGeom prst="roundRect">
            <a:avLst>
              <a:gd name="adj" fmla="val 11111"/>
            </a:avLst>
          </a:prstGeom>
          <a:solidFill>
            <a:srgbClr val="0066CC"/>
          </a:solidFill>
          <a:ln/>
        </p:spPr>
      </p:sp>
      <p:sp>
        <p:nvSpPr>
          <p:cNvPr id="22" name="Text 20"/>
          <p:cNvSpPr/>
          <p:nvPr/>
        </p:nvSpPr>
        <p:spPr>
          <a:xfrm>
            <a:off x="2697480" y="4297680"/>
            <a:ext cx="192024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ISO 14001</a:t>
            </a:r>
            <a:endParaRPr lang="en-US" sz="1100" dirty="0"/>
          </a:p>
        </p:txBody>
      </p:sp>
      <p:sp>
        <p:nvSpPr>
          <p:cNvPr id="23" name="Shape 21"/>
          <p:cNvSpPr/>
          <p:nvPr/>
        </p:nvSpPr>
        <p:spPr>
          <a:xfrm>
            <a:off x="4846320" y="4297680"/>
            <a:ext cx="1920240" cy="411480"/>
          </a:xfrm>
          <a:prstGeom prst="roundRect">
            <a:avLst>
              <a:gd name="adj" fmla="val 11111"/>
            </a:avLst>
          </a:prstGeom>
          <a:solidFill>
            <a:srgbClr val="0066CC"/>
          </a:solidFill>
          <a:ln/>
        </p:spPr>
      </p:sp>
      <p:sp>
        <p:nvSpPr>
          <p:cNvPr id="24" name="Text 22"/>
          <p:cNvSpPr/>
          <p:nvPr/>
        </p:nvSpPr>
        <p:spPr>
          <a:xfrm>
            <a:off x="4846320" y="4297680"/>
            <a:ext cx="192024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API Certified</a:t>
            </a:r>
            <a:endParaRPr lang="en-US" sz="1100" dirty="0"/>
          </a:p>
        </p:txBody>
      </p:sp>
      <p:sp>
        <p:nvSpPr>
          <p:cNvPr id="25" name="Shape 23"/>
          <p:cNvSpPr/>
          <p:nvPr/>
        </p:nvSpPr>
        <p:spPr>
          <a:xfrm>
            <a:off x="6995160" y="4297680"/>
            <a:ext cx="1920240" cy="411480"/>
          </a:xfrm>
          <a:prstGeom prst="roundRect">
            <a:avLst>
              <a:gd name="adj" fmla="val 11111"/>
            </a:avLst>
          </a:prstGeom>
          <a:solidFill>
            <a:srgbClr val="0066CC"/>
          </a:solidFill>
          <a:ln/>
        </p:spPr>
      </p:sp>
      <p:sp>
        <p:nvSpPr>
          <p:cNvPr id="26" name="Text 24"/>
          <p:cNvSpPr/>
          <p:nvPr/>
        </p:nvSpPr>
        <p:spPr>
          <a:xfrm>
            <a:off x="6995160" y="4297680"/>
            <a:ext cx="192024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CE Approved</a:t>
            </a:r>
            <a:endParaRPr lang="en-US" sz="11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54864"/>
          </a:xfrm>
          <a:prstGeom prst="rect">
            <a:avLst/>
          </a:prstGeom>
          <a:solidFill>
            <a:srgbClr val="0066CC"/>
          </a:solidFill>
          <a:ln/>
        </p:spPr>
      </p:sp>
      <p:sp>
        <p:nvSpPr>
          <p:cNvPr id="3" name="Text 1"/>
          <p:cNvSpPr/>
          <p:nvPr/>
        </p:nvSpPr>
        <p:spPr>
          <a:xfrm>
            <a:off x="548640" y="274320"/>
            <a:ext cx="731520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0D1B2A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Why Choose BOERJIA</a:t>
            </a:r>
            <a:endParaRPr lang="en-US" sz="2800" dirty="0"/>
          </a:p>
        </p:txBody>
      </p:sp>
      <p:sp>
        <p:nvSpPr>
          <p:cNvPr id="4" name="Shape 2"/>
          <p:cNvSpPr/>
          <p:nvPr/>
        </p:nvSpPr>
        <p:spPr>
          <a:xfrm>
            <a:off x="548640" y="960120"/>
            <a:ext cx="1371600" cy="36576"/>
          </a:xfrm>
          <a:prstGeom prst="rect">
            <a:avLst/>
          </a:prstGeom>
          <a:solidFill>
            <a:srgbClr val="00A3E0"/>
          </a:solidFill>
          <a:ln/>
        </p:spPr>
      </p:sp>
      <p:sp>
        <p:nvSpPr>
          <p:cNvPr id="5" name="Shape 3"/>
          <p:cNvSpPr/>
          <p:nvPr/>
        </p:nvSpPr>
        <p:spPr>
          <a:xfrm>
            <a:off x="457200" y="1280160"/>
            <a:ext cx="2651760" cy="1554480"/>
          </a:xfrm>
          <a:prstGeom prst="roundRect">
            <a:avLst>
              <a:gd name="adj" fmla="val 5882"/>
            </a:avLst>
          </a:prstGeom>
          <a:solidFill>
            <a:srgbClr val="F0F7FC"/>
          </a:solidFill>
          <a:ln w="6350">
            <a:solidFill>
              <a:srgbClr val="92BDDD"/>
            </a:solidFill>
            <a:prstDash val="solid"/>
          </a:ln>
        </p:spPr>
      </p:sp>
      <p:sp>
        <p:nvSpPr>
          <p:cNvPr id="6" name="Shape 4"/>
          <p:cNvSpPr/>
          <p:nvPr/>
        </p:nvSpPr>
        <p:spPr>
          <a:xfrm>
            <a:off x="594360" y="1417320"/>
            <a:ext cx="457200" cy="457200"/>
          </a:xfrm>
          <a:prstGeom prst="ellipse">
            <a:avLst/>
          </a:prstGeom>
          <a:solidFill>
            <a:srgbClr val="0066CC"/>
          </a:solidFill>
          <a:ln/>
        </p:spPr>
      </p:sp>
      <p:sp>
        <p:nvSpPr>
          <p:cNvPr id="7" name="Text 5"/>
          <p:cNvSpPr/>
          <p:nvPr/>
        </p:nvSpPr>
        <p:spPr>
          <a:xfrm>
            <a:off x="594360" y="1417320"/>
            <a:ext cx="4572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600" dirty="0">
                <a:solidFill>
                  <a:srgbClr val="FFFFFF"/>
                </a:solidFill>
              </a:rPr>
              <a:t>★</a:t>
            </a:r>
            <a:endParaRPr lang="en-US" sz="1600" dirty="0"/>
          </a:p>
        </p:txBody>
      </p:sp>
      <p:sp>
        <p:nvSpPr>
          <p:cNvPr id="8" name="Text 6"/>
          <p:cNvSpPr/>
          <p:nvPr/>
        </p:nvSpPr>
        <p:spPr>
          <a:xfrm>
            <a:off x="1188720" y="1417320"/>
            <a:ext cx="173736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0D1B2A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Premium Quality</a:t>
            </a:r>
            <a:endParaRPr lang="en-US" sz="1300" dirty="0"/>
          </a:p>
        </p:txBody>
      </p:sp>
      <p:sp>
        <p:nvSpPr>
          <p:cNvPr id="9" name="Text 7"/>
          <p:cNvSpPr/>
          <p:nvPr/>
        </p:nvSpPr>
        <p:spPr>
          <a:xfrm>
            <a:off x="594360" y="2011680"/>
            <a:ext cx="237744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40000"/>
              </a:lnSpc>
              <a:buNone/>
            </a:pPr>
            <a:r>
              <a:rPr lang="en-US" sz="1000" dirty="0">
                <a:solidFill>
                  <a:srgbClr val="66666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Strict QC system with ISO certification. Every batch tested before shipment.</a:t>
            </a:r>
            <a:endParaRPr lang="en-US" sz="1000" dirty="0"/>
          </a:p>
        </p:txBody>
      </p:sp>
      <p:sp>
        <p:nvSpPr>
          <p:cNvPr id="10" name="Shape 8"/>
          <p:cNvSpPr/>
          <p:nvPr/>
        </p:nvSpPr>
        <p:spPr>
          <a:xfrm>
            <a:off x="3383280" y="1280160"/>
            <a:ext cx="2651760" cy="1554480"/>
          </a:xfrm>
          <a:prstGeom prst="roundRect">
            <a:avLst>
              <a:gd name="adj" fmla="val 5882"/>
            </a:avLst>
          </a:prstGeom>
          <a:solidFill>
            <a:srgbClr val="F0F7FC"/>
          </a:solidFill>
          <a:ln w="6350">
            <a:solidFill>
              <a:srgbClr val="92BDDD"/>
            </a:solidFill>
            <a:prstDash val="solid"/>
          </a:ln>
        </p:spPr>
      </p:sp>
      <p:sp>
        <p:nvSpPr>
          <p:cNvPr id="11" name="Shape 9"/>
          <p:cNvSpPr/>
          <p:nvPr/>
        </p:nvSpPr>
        <p:spPr>
          <a:xfrm>
            <a:off x="3520440" y="1417320"/>
            <a:ext cx="457200" cy="457200"/>
          </a:xfrm>
          <a:prstGeom prst="ellipse">
            <a:avLst/>
          </a:prstGeom>
          <a:solidFill>
            <a:srgbClr val="0066CC"/>
          </a:solidFill>
          <a:ln/>
        </p:spPr>
      </p:sp>
      <p:sp>
        <p:nvSpPr>
          <p:cNvPr id="12" name="Text 10"/>
          <p:cNvSpPr/>
          <p:nvPr/>
        </p:nvSpPr>
        <p:spPr>
          <a:xfrm>
            <a:off x="3520440" y="1417320"/>
            <a:ext cx="4572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600" dirty="0">
                <a:solidFill>
                  <a:srgbClr val="FFFFFF"/>
                </a:solidFill>
              </a:rPr>
              <a:t>⚙</a:t>
            </a:r>
            <a:endParaRPr lang="en-US" sz="1600" dirty="0"/>
          </a:p>
        </p:txBody>
      </p:sp>
      <p:sp>
        <p:nvSpPr>
          <p:cNvPr id="13" name="Text 11"/>
          <p:cNvSpPr/>
          <p:nvPr/>
        </p:nvSpPr>
        <p:spPr>
          <a:xfrm>
            <a:off x="4114800" y="1417320"/>
            <a:ext cx="173736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0D1B2A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OEM / ODM Available</a:t>
            </a:r>
            <a:endParaRPr lang="en-US" sz="1300" dirty="0"/>
          </a:p>
        </p:txBody>
      </p:sp>
      <p:sp>
        <p:nvSpPr>
          <p:cNvPr id="14" name="Text 12"/>
          <p:cNvSpPr/>
          <p:nvPr/>
        </p:nvSpPr>
        <p:spPr>
          <a:xfrm>
            <a:off x="3520440" y="2011680"/>
            <a:ext cx="237744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40000"/>
              </a:lnSpc>
              <a:buNone/>
            </a:pPr>
            <a:r>
              <a:rPr lang="en-US" sz="1000" dirty="0">
                <a:solidFill>
                  <a:srgbClr val="66666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Custom formulations, private label packaging. Your brand, our expertise.</a:t>
            </a:r>
            <a:endParaRPr lang="en-US" sz="1000" dirty="0"/>
          </a:p>
        </p:txBody>
      </p:sp>
      <p:sp>
        <p:nvSpPr>
          <p:cNvPr id="15" name="Shape 13"/>
          <p:cNvSpPr/>
          <p:nvPr/>
        </p:nvSpPr>
        <p:spPr>
          <a:xfrm>
            <a:off x="6309360" y="1280160"/>
            <a:ext cx="2651760" cy="1554480"/>
          </a:xfrm>
          <a:prstGeom prst="roundRect">
            <a:avLst>
              <a:gd name="adj" fmla="val 5882"/>
            </a:avLst>
          </a:prstGeom>
          <a:solidFill>
            <a:srgbClr val="F0F7FC"/>
          </a:solidFill>
          <a:ln w="6350">
            <a:solidFill>
              <a:srgbClr val="92BDDD"/>
            </a:solidFill>
            <a:prstDash val="solid"/>
          </a:ln>
        </p:spPr>
      </p:sp>
      <p:sp>
        <p:nvSpPr>
          <p:cNvPr id="16" name="Shape 14"/>
          <p:cNvSpPr/>
          <p:nvPr/>
        </p:nvSpPr>
        <p:spPr>
          <a:xfrm>
            <a:off x="6446520" y="1417320"/>
            <a:ext cx="457200" cy="457200"/>
          </a:xfrm>
          <a:prstGeom prst="ellipse">
            <a:avLst/>
          </a:prstGeom>
          <a:solidFill>
            <a:srgbClr val="0066CC"/>
          </a:solidFill>
          <a:ln/>
        </p:spPr>
      </p:sp>
      <p:sp>
        <p:nvSpPr>
          <p:cNvPr id="17" name="Text 15"/>
          <p:cNvSpPr/>
          <p:nvPr/>
        </p:nvSpPr>
        <p:spPr>
          <a:xfrm>
            <a:off x="6446520" y="1417320"/>
            <a:ext cx="4572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600" dirty="0">
                <a:solidFill>
                  <a:srgbClr val="FFFFFF"/>
                </a:solidFill>
              </a:rPr>
              <a:t>✈</a:t>
            </a:r>
            <a:endParaRPr lang="en-US" sz="1600" dirty="0"/>
          </a:p>
        </p:txBody>
      </p:sp>
      <p:sp>
        <p:nvSpPr>
          <p:cNvPr id="18" name="Text 16"/>
          <p:cNvSpPr/>
          <p:nvPr/>
        </p:nvSpPr>
        <p:spPr>
          <a:xfrm>
            <a:off x="7040880" y="1417320"/>
            <a:ext cx="173736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0D1B2A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Global Shipping</a:t>
            </a:r>
            <a:endParaRPr lang="en-US" sz="1300" dirty="0"/>
          </a:p>
        </p:txBody>
      </p:sp>
      <p:sp>
        <p:nvSpPr>
          <p:cNvPr id="19" name="Text 17"/>
          <p:cNvSpPr/>
          <p:nvPr/>
        </p:nvSpPr>
        <p:spPr>
          <a:xfrm>
            <a:off x="6446520" y="2011680"/>
            <a:ext cx="237744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40000"/>
              </a:lnSpc>
              <a:buNone/>
            </a:pPr>
            <a:r>
              <a:rPr lang="en-US" sz="1000" dirty="0">
                <a:solidFill>
                  <a:srgbClr val="66666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15-25 days delivery. FOB/CIF/CFR terms. Worldwide logistics network.</a:t>
            </a:r>
            <a:endParaRPr lang="en-US" sz="1000" dirty="0"/>
          </a:p>
        </p:txBody>
      </p:sp>
      <p:sp>
        <p:nvSpPr>
          <p:cNvPr id="20" name="Shape 18"/>
          <p:cNvSpPr/>
          <p:nvPr/>
        </p:nvSpPr>
        <p:spPr>
          <a:xfrm>
            <a:off x="457200" y="3108960"/>
            <a:ext cx="2651760" cy="1554480"/>
          </a:xfrm>
          <a:prstGeom prst="roundRect">
            <a:avLst>
              <a:gd name="adj" fmla="val 5882"/>
            </a:avLst>
          </a:prstGeom>
          <a:solidFill>
            <a:srgbClr val="F0F7FC"/>
          </a:solidFill>
          <a:ln w="6350">
            <a:solidFill>
              <a:srgbClr val="92BDDD"/>
            </a:solidFill>
            <a:prstDash val="solid"/>
          </a:ln>
        </p:spPr>
      </p:sp>
      <p:sp>
        <p:nvSpPr>
          <p:cNvPr id="21" name="Shape 19"/>
          <p:cNvSpPr/>
          <p:nvPr/>
        </p:nvSpPr>
        <p:spPr>
          <a:xfrm>
            <a:off x="594360" y="3246120"/>
            <a:ext cx="457200" cy="457200"/>
          </a:xfrm>
          <a:prstGeom prst="ellipse">
            <a:avLst/>
          </a:prstGeom>
          <a:solidFill>
            <a:srgbClr val="0066CC"/>
          </a:solidFill>
          <a:ln/>
        </p:spPr>
      </p:sp>
      <p:sp>
        <p:nvSpPr>
          <p:cNvPr id="22" name="Text 20"/>
          <p:cNvSpPr/>
          <p:nvPr/>
        </p:nvSpPr>
        <p:spPr>
          <a:xfrm>
            <a:off x="594360" y="3246120"/>
            <a:ext cx="4572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600" dirty="0">
                <a:solidFill>
                  <a:srgbClr val="FFFFFF"/>
                </a:solidFill>
              </a:rPr>
              <a:t>☎</a:t>
            </a:r>
            <a:endParaRPr lang="en-US" sz="1600" dirty="0"/>
          </a:p>
        </p:txBody>
      </p:sp>
      <p:sp>
        <p:nvSpPr>
          <p:cNvPr id="23" name="Text 21"/>
          <p:cNvSpPr/>
          <p:nvPr/>
        </p:nvSpPr>
        <p:spPr>
          <a:xfrm>
            <a:off x="1188720" y="3246120"/>
            <a:ext cx="173736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0D1B2A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Fast Response</a:t>
            </a:r>
            <a:endParaRPr lang="en-US" sz="1300" dirty="0"/>
          </a:p>
        </p:txBody>
      </p:sp>
      <p:sp>
        <p:nvSpPr>
          <p:cNvPr id="24" name="Text 22"/>
          <p:cNvSpPr/>
          <p:nvPr/>
        </p:nvSpPr>
        <p:spPr>
          <a:xfrm>
            <a:off x="594360" y="3840480"/>
            <a:ext cx="237744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40000"/>
              </a:lnSpc>
              <a:buNone/>
            </a:pPr>
            <a:r>
              <a:rPr lang="en-US" sz="1000" dirty="0">
                <a:solidFill>
                  <a:srgbClr val="66666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24-hour WhatsApp response. Professional multilingual sales team.</a:t>
            </a:r>
            <a:endParaRPr lang="en-US" sz="1000" dirty="0"/>
          </a:p>
        </p:txBody>
      </p:sp>
      <p:sp>
        <p:nvSpPr>
          <p:cNvPr id="25" name="Shape 23"/>
          <p:cNvSpPr/>
          <p:nvPr/>
        </p:nvSpPr>
        <p:spPr>
          <a:xfrm>
            <a:off x="3383280" y="3108960"/>
            <a:ext cx="2651760" cy="1554480"/>
          </a:xfrm>
          <a:prstGeom prst="roundRect">
            <a:avLst>
              <a:gd name="adj" fmla="val 5882"/>
            </a:avLst>
          </a:prstGeom>
          <a:solidFill>
            <a:srgbClr val="F0F7FC"/>
          </a:solidFill>
          <a:ln w="6350">
            <a:solidFill>
              <a:srgbClr val="92BDDD"/>
            </a:solidFill>
            <a:prstDash val="solid"/>
          </a:ln>
        </p:spPr>
      </p:sp>
      <p:sp>
        <p:nvSpPr>
          <p:cNvPr id="26" name="Shape 24"/>
          <p:cNvSpPr/>
          <p:nvPr/>
        </p:nvSpPr>
        <p:spPr>
          <a:xfrm>
            <a:off x="3520440" y="3246120"/>
            <a:ext cx="457200" cy="457200"/>
          </a:xfrm>
          <a:prstGeom prst="ellipse">
            <a:avLst/>
          </a:prstGeom>
          <a:solidFill>
            <a:srgbClr val="0066CC"/>
          </a:solidFill>
          <a:ln/>
        </p:spPr>
      </p:sp>
      <p:sp>
        <p:nvSpPr>
          <p:cNvPr id="27" name="Text 25"/>
          <p:cNvSpPr/>
          <p:nvPr/>
        </p:nvSpPr>
        <p:spPr>
          <a:xfrm>
            <a:off x="3520440" y="3246120"/>
            <a:ext cx="4572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600" dirty="0">
                <a:solidFill>
                  <a:srgbClr val="FFFFFF"/>
                </a:solidFill>
              </a:rPr>
              <a:t>⚡</a:t>
            </a:r>
            <a:endParaRPr lang="en-US" sz="1600" dirty="0"/>
          </a:p>
        </p:txBody>
      </p:sp>
      <p:sp>
        <p:nvSpPr>
          <p:cNvPr id="28" name="Text 26"/>
          <p:cNvSpPr/>
          <p:nvPr/>
        </p:nvSpPr>
        <p:spPr>
          <a:xfrm>
            <a:off x="4114800" y="3246120"/>
            <a:ext cx="173736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0D1B2A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Flexible MOQ</a:t>
            </a:r>
            <a:endParaRPr lang="en-US" sz="1300" dirty="0"/>
          </a:p>
        </p:txBody>
      </p:sp>
      <p:sp>
        <p:nvSpPr>
          <p:cNvPr id="29" name="Text 27"/>
          <p:cNvSpPr/>
          <p:nvPr/>
        </p:nvSpPr>
        <p:spPr>
          <a:xfrm>
            <a:off x="3520440" y="3840480"/>
            <a:ext cx="237744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40000"/>
              </a:lnSpc>
              <a:buNone/>
            </a:pPr>
            <a:r>
              <a:rPr lang="en-US" sz="1000" dirty="0">
                <a:solidFill>
                  <a:srgbClr val="66666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Low MOQ for trial orders. Support growing business partnerships.</a:t>
            </a:r>
            <a:endParaRPr lang="en-US" sz="1000" dirty="0"/>
          </a:p>
        </p:txBody>
      </p:sp>
      <p:sp>
        <p:nvSpPr>
          <p:cNvPr id="30" name="Shape 28"/>
          <p:cNvSpPr/>
          <p:nvPr/>
        </p:nvSpPr>
        <p:spPr>
          <a:xfrm>
            <a:off x="6309360" y="3108960"/>
            <a:ext cx="2651760" cy="1554480"/>
          </a:xfrm>
          <a:prstGeom prst="roundRect">
            <a:avLst>
              <a:gd name="adj" fmla="val 5882"/>
            </a:avLst>
          </a:prstGeom>
          <a:solidFill>
            <a:srgbClr val="F0F7FC"/>
          </a:solidFill>
          <a:ln w="6350">
            <a:solidFill>
              <a:srgbClr val="92BDDD"/>
            </a:solidFill>
            <a:prstDash val="solid"/>
          </a:ln>
        </p:spPr>
      </p:sp>
      <p:sp>
        <p:nvSpPr>
          <p:cNvPr id="31" name="Shape 29"/>
          <p:cNvSpPr/>
          <p:nvPr/>
        </p:nvSpPr>
        <p:spPr>
          <a:xfrm>
            <a:off x="6446520" y="3246120"/>
            <a:ext cx="457200" cy="457200"/>
          </a:xfrm>
          <a:prstGeom prst="ellipse">
            <a:avLst/>
          </a:prstGeom>
          <a:solidFill>
            <a:srgbClr val="0066CC"/>
          </a:solidFill>
          <a:ln/>
        </p:spPr>
      </p:sp>
      <p:sp>
        <p:nvSpPr>
          <p:cNvPr id="32" name="Text 30"/>
          <p:cNvSpPr/>
          <p:nvPr/>
        </p:nvSpPr>
        <p:spPr>
          <a:xfrm>
            <a:off x="6446520" y="3246120"/>
            <a:ext cx="4572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600" dirty="0">
                <a:solidFill>
                  <a:srgbClr val="FFFFFF"/>
                </a:solidFill>
              </a:rPr>
              <a:t>✓</a:t>
            </a:r>
            <a:endParaRPr lang="en-US" sz="1600" dirty="0"/>
          </a:p>
        </p:txBody>
      </p:sp>
      <p:sp>
        <p:nvSpPr>
          <p:cNvPr id="33" name="Text 31"/>
          <p:cNvSpPr/>
          <p:nvPr/>
        </p:nvSpPr>
        <p:spPr>
          <a:xfrm>
            <a:off x="7040880" y="3246120"/>
            <a:ext cx="173736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0D1B2A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Complete Product Range</a:t>
            </a:r>
            <a:endParaRPr lang="en-US" sz="1300" dirty="0"/>
          </a:p>
        </p:txBody>
      </p:sp>
      <p:sp>
        <p:nvSpPr>
          <p:cNvPr id="34" name="Text 32"/>
          <p:cNvSpPr/>
          <p:nvPr/>
        </p:nvSpPr>
        <p:spPr>
          <a:xfrm>
            <a:off x="6446520" y="3840480"/>
            <a:ext cx="237744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40000"/>
              </a:lnSpc>
              <a:buNone/>
            </a:pPr>
            <a:r>
              <a:rPr lang="en-US" sz="1000" dirty="0">
                <a:solidFill>
                  <a:srgbClr val="66666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Engine oil, hydraulic, gear oil, grease, brake fluid, marine &amp; more.</a:t>
            </a:r>
            <a:endParaRPr lang="en-US" sz="10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54864"/>
          </a:xfrm>
          <a:prstGeom prst="rect">
            <a:avLst/>
          </a:prstGeom>
          <a:solidFill>
            <a:srgbClr val="0066CC"/>
          </a:solidFill>
          <a:ln/>
        </p:spPr>
      </p:sp>
      <p:sp>
        <p:nvSpPr>
          <p:cNvPr id="3" name="Text 1"/>
          <p:cNvSpPr/>
          <p:nvPr/>
        </p:nvSpPr>
        <p:spPr>
          <a:xfrm>
            <a:off x="548640" y="274320"/>
            <a:ext cx="731520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0D1B2A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Product Categories</a:t>
            </a:r>
            <a:endParaRPr lang="en-US" sz="2800" dirty="0"/>
          </a:p>
        </p:txBody>
      </p:sp>
      <p:sp>
        <p:nvSpPr>
          <p:cNvPr id="4" name="Shape 2"/>
          <p:cNvSpPr/>
          <p:nvPr/>
        </p:nvSpPr>
        <p:spPr>
          <a:xfrm>
            <a:off x="548640" y="960120"/>
            <a:ext cx="1371600" cy="36576"/>
          </a:xfrm>
          <a:prstGeom prst="rect">
            <a:avLst/>
          </a:prstGeom>
          <a:solidFill>
            <a:srgbClr val="00A3E0"/>
          </a:solidFill>
          <a:ln/>
        </p:spPr>
      </p:sp>
      <p:sp>
        <p:nvSpPr>
          <p:cNvPr id="5" name="Shape 3"/>
          <p:cNvSpPr/>
          <p:nvPr/>
        </p:nvSpPr>
        <p:spPr>
          <a:xfrm>
            <a:off x="457200" y="1188720"/>
            <a:ext cx="73152" cy="594360"/>
          </a:xfrm>
          <a:prstGeom prst="rect">
            <a:avLst/>
          </a:prstGeom>
          <a:solidFill>
            <a:srgbClr val="0066CC"/>
          </a:solidFill>
          <a:ln/>
        </p:spPr>
      </p:sp>
      <p:sp>
        <p:nvSpPr>
          <p:cNvPr id="6" name="Text 4"/>
          <p:cNvSpPr/>
          <p:nvPr/>
        </p:nvSpPr>
        <p:spPr>
          <a:xfrm>
            <a:off x="640080" y="1188720"/>
            <a:ext cx="384048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0D1B2A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Engine Oil</a:t>
            </a:r>
            <a:endParaRPr lang="en-US" sz="1200" dirty="0"/>
          </a:p>
        </p:txBody>
      </p:sp>
      <p:sp>
        <p:nvSpPr>
          <p:cNvPr id="7" name="Text 5"/>
          <p:cNvSpPr/>
          <p:nvPr/>
        </p:nvSpPr>
        <p:spPr>
          <a:xfrm>
            <a:off x="640080" y="1481328"/>
            <a:ext cx="384048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66666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SP 5W-40, GF-6 5W-30, S6 5W-30</a:t>
            </a:r>
            <a:endParaRPr lang="en-US" sz="1000" dirty="0"/>
          </a:p>
        </p:txBody>
      </p:sp>
      <p:sp>
        <p:nvSpPr>
          <p:cNvPr id="8" name="Shape 6"/>
          <p:cNvSpPr/>
          <p:nvPr/>
        </p:nvSpPr>
        <p:spPr>
          <a:xfrm>
            <a:off x="4846320" y="1188720"/>
            <a:ext cx="73152" cy="594360"/>
          </a:xfrm>
          <a:prstGeom prst="rect">
            <a:avLst/>
          </a:prstGeom>
          <a:solidFill>
            <a:srgbClr val="333333"/>
          </a:solidFill>
          <a:ln/>
        </p:spPr>
      </p:sp>
      <p:sp>
        <p:nvSpPr>
          <p:cNvPr id="9" name="Text 7"/>
          <p:cNvSpPr/>
          <p:nvPr/>
        </p:nvSpPr>
        <p:spPr>
          <a:xfrm>
            <a:off x="5029200" y="1188720"/>
            <a:ext cx="384048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0D1B2A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Diesel Engine Oil</a:t>
            </a:r>
            <a:endParaRPr lang="en-US" sz="1200" dirty="0"/>
          </a:p>
        </p:txBody>
      </p:sp>
      <p:sp>
        <p:nvSpPr>
          <p:cNvPr id="10" name="Text 8"/>
          <p:cNvSpPr/>
          <p:nvPr/>
        </p:nvSpPr>
        <p:spPr>
          <a:xfrm>
            <a:off x="5029200" y="1481328"/>
            <a:ext cx="384048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66666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CJ-4/SN+ 10W-40, CF-4 20W-50</a:t>
            </a:r>
            <a:endParaRPr lang="en-US" sz="1000" dirty="0"/>
          </a:p>
        </p:txBody>
      </p:sp>
      <p:sp>
        <p:nvSpPr>
          <p:cNvPr id="11" name="Shape 9"/>
          <p:cNvSpPr/>
          <p:nvPr/>
        </p:nvSpPr>
        <p:spPr>
          <a:xfrm>
            <a:off x="457200" y="1965960"/>
            <a:ext cx="73152" cy="594360"/>
          </a:xfrm>
          <a:prstGeom prst="rect">
            <a:avLst/>
          </a:prstGeom>
          <a:solidFill>
            <a:srgbClr val="FF6B35"/>
          </a:solidFill>
          <a:ln/>
        </p:spPr>
      </p:sp>
      <p:sp>
        <p:nvSpPr>
          <p:cNvPr id="12" name="Text 10"/>
          <p:cNvSpPr/>
          <p:nvPr/>
        </p:nvSpPr>
        <p:spPr>
          <a:xfrm>
            <a:off x="640080" y="1965960"/>
            <a:ext cx="384048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0D1B2A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Motorcycle Oil</a:t>
            </a:r>
            <a:endParaRPr lang="en-US" sz="1200" dirty="0"/>
          </a:p>
        </p:txBody>
      </p:sp>
      <p:sp>
        <p:nvSpPr>
          <p:cNvPr id="13" name="Text 11"/>
          <p:cNvSpPr/>
          <p:nvPr/>
        </p:nvSpPr>
        <p:spPr>
          <a:xfrm>
            <a:off x="640080" y="2258568"/>
            <a:ext cx="384048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66666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5000 4T, PAO 4T SP 5W-40</a:t>
            </a:r>
            <a:endParaRPr lang="en-US" sz="1000" dirty="0"/>
          </a:p>
        </p:txBody>
      </p:sp>
      <p:sp>
        <p:nvSpPr>
          <p:cNvPr id="14" name="Shape 12"/>
          <p:cNvSpPr/>
          <p:nvPr/>
        </p:nvSpPr>
        <p:spPr>
          <a:xfrm>
            <a:off x="4846320" y="1965960"/>
            <a:ext cx="73152" cy="594360"/>
          </a:xfrm>
          <a:prstGeom prst="rect">
            <a:avLst/>
          </a:prstGeom>
          <a:solidFill>
            <a:srgbClr val="003366"/>
          </a:solidFill>
          <a:ln/>
        </p:spPr>
      </p:sp>
      <p:sp>
        <p:nvSpPr>
          <p:cNvPr id="15" name="Text 13"/>
          <p:cNvSpPr/>
          <p:nvPr/>
        </p:nvSpPr>
        <p:spPr>
          <a:xfrm>
            <a:off x="5029200" y="1965960"/>
            <a:ext cx="384048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0D1B2A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Hydraulic Oil</a:t>
            </a:r>
            <a:endParaRPr lang="en-US" sz="1200" dirty="0"/>
          </a:p>
        </p:txBody>
      </p:sp>
      <p:sp>
        <p:nvSpPr>
          <p:cNvPr id="16" name="Text 14"/>
          <p:cNvSpPr/>
          <p:nvPr/>
        </p:nvSpPr>
        <p:spPr>
          <a:xfrm>
            <a:off x="5029200" y="2258568"/>
            <a:ext cx="384048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66666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L-HM 46#, L-HM 68#, L-HV 46#</a:t>
            </a:r>
            <a:endParaRPr lang="en-US" sz="1000" dirty="0"/>
          </a:p>
        </p:txBody>
      </p:sp>
      <p:sp>
        <p:nvSpPr>
          <p:cNvPr id="17" name="Shape 15"/>
          <p:cNvSpPr/>
          <p:nvPr/>
        </p:nvSpPr>
        <p:spPr>
          <a:xfrm>
            <a:off x="457200" y="2743200"/>
            <a:ext cx="73152" cy="594360"/>
          </a:xfrm>
          <a:prstGeom prst="rect">
            <a:avLst/>
          </a:prstGeom>
          <a:solidFill>
            <a:srgbClr val="555555"/>
          </a:solidFill>
          <a:ln/>
        </p:spPr>
      </p:sp>
      <p:sp>
        <p:nvSpPr>
          <p:cNvPr id="18" name="Text 16"/>
          <p:cNvSpPr/>
          <p:nvPr/>
        </p:nvSpPr>
        <p:spPr>
          <a:xfrm>
            <a:off x="640080" y="2743200"/>
            <a:ext cx="384048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0D1B2A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Gear Oil</a:t>
            </a:r>
            <a:endParaRPr lang="en-US" sz="1200" dirty="0"/>
          </a:p>
        </p:txBody>
      </p:sp>
      <p:sp>
        <p:nvSpPr>
          <p:cNvPr id="19" name="Text 17"/>
          <p:cNvSpPr/>
          <p:nvPr/>
        </p:nvSpPr>
        <p:spPr>
          <a:xfrm>
            <a:off x="640080" y="3035808"/>
            <a:ext cx="384048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66666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EP 150, EP 220</a:t>
            </a:r>
            <a:endParaRPr lang="en-US" sz="1000" dirty="0"/>
          </a:p>
        </p:txBody>
      </p:sp>
      <p:sp>
        <p:nvSpPr>
          <p:cNvPr id="20" name="Shape 18"/>
          <p:cNvSpPr/>
          <p:nvPr/>
        </p:nvSpPr>
        <p:spPr>
          <a:xfrm>
            <a:off x="4846320" y="2743200"/>
            <a:ext cx="73152" cy="594360"/>
          </a:xfrm>
          <a:prstGeom prst="rect">
            <a:avLst/>
          </a:prstGeom>
          <a:solidFill>
            <a:srgbClr val="B8860B"/>
          </a:solidFill>
          <a:ln/>
        </p:spPr>
      </p:sp>
      <p:sp>
        <p:nvSpPr>
          <p:cNvPr id="21" name="Text 19"/>
          <p:cNvSpPr/>
          <p:nvPr/>
        </p:nvSpPr>
        <p:spPr>
          <a:xfrm>
            <a:off x="5029200" y="2743200"/>
            <a:ext cx="384048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0D1B2A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Grease</a:t>
            </a:r>
            <a:endParaRPr lang="en-US" sz="1200" dirty="0"/>
          </a:p>
        </p:txBody>
      </p:sp>
      <p:sp>
        <p:nvSpPr>
          <p:cNvPr id="22" name="Text 20"/>
          <p:cNvSpPr/>
          <p:nvPr/>
        </p:nvSpPr>
        <p:spPr>
          <a:xfrm>
            <a:off x="5029200" y="3035808"/>
            <a:ext cx="384048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66666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Lithium, MoS2, Polyurea, Bentonite, Al Complex</a:t>
            </a:r>
            <a:endParaRPr lang="en-US" sz="1000" dirty="0"/>
          </a:p>
        </p:txBody>
      </p:sp>
      <p:sp>
        <p:nvSpPr>
          <p:cNvPr id="23" name="Shape 21"/>
          <p:cNvSpPr/>
          <p:nvPr/>
        </p:nvSpPr>
        <p:spPr>
          <a:xfrm>
            <a:off x="457200" y="3520440"/>
            <a:ext cx="73152" cy="594360"/>
          </a:xfrm>
          <a:prstGeom prst="rect">
            <a:avLst/>
          </a:prstGeom>
          <a:solidFill>
            <a:srgbClr val="CC0000"/>
          </a:solidFill>
          <a:ln/>
        </p:spPr>
      </p:sp>
      <p:sp>
        <p:nvSpPr>
          <p:cNvPr id="24" name="Text 22"/>
          <p:cNvSpPr/>
          <p:nvPr/>
        </p:nvSpPr>
        <p:spPr>
          <a:xfrm>
            <a:off x="640080" y="3520440"/>
            <a:ext cx="384048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0D1B2A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Brake Fluid</a:t>
            </a:r>
            <a:endParaRPr lang="en-US" sz="1200" dirty="0"/>
          </a:p>
        </p:txBody>
      </p:sp>
      <p:sp>
        <p:nvSpPr>
          <p:cNvPr id="25" name="Text 23"/>
          <p:cNvSpPr/>
          <p:nvPr/>
        </p:nvSpPr>
        <p:spPr>
          <a:xfrm>
            <a:off x="640080" y="3813048"/>
            <a:ext cx="384048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66666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DOT 4, DOT 3</a:t>
            </a:r>
            <a:endParaRPr lang="en-US" sz="1000" dirty="0"/>
          </a:p>
        </p:txBody>
      </p:sp>
      <p:sp>
        <p:nvSpPr>
          <p:cNvPr id="26" name="Shape 24"/>
          <p:cNvSpPr/>
          <p:nvPr/>
        </p:nvSpPr>
        <p:spPr>
          <a:xfrm>
            <a:off x="4846320" y="3520440"/>
            <a:ext cx="73152" cy="594360"/>
          </a:xfrm>
          <a:prstGeom prst="rect">
            <a:avLst/>
          </a:prstGeom>
          <a:solidFill>
            <a:srgbClr val="00A3E0"/>
          </a:solidFill>
          <a:ln/>
        </p:spPr>
      </p:sp>
      <p:sp>
        <p:nvSpPr>
          <p:cNvPr id="27" name="Text 25"/>
          <p:cNvSpPr/>
          <p:nvPr/>
        </p:nvSpPr>
        <p:spPr>
          <a:xfrm>
            <a:off x="5029200" y="3520440"/>
            <a:ext cx="384048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0D1B2A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Transmission</a:t>
            </a:r>
            <a:endParaRPr lang="en-US" sz="1200" dirty="0"/>
          </a:p>
        </p:txBody>
      </p:sp>
      <p:sp>
        <p:nvSpPr>
          <p:cNvPr id="28" name="Text 26"/>
          <p:cNvSpPr/>
          <p:nvPr/>
        </p:nvSpPr>
        <p:spPr>
          <a:xfrm>
            <a:off x="5029200" y="3813048"/>
            <a:ext cx="384048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66666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ATF-6HP</a:t>
            </a:r>
            <a:endParaRPr lang="en-US" sz="1000" dirty="0"/>
          </a:p>
        </p:txBody>
      </p:sp>
      <p:sp>
        <p:nvSpPr>
          <p:cNvPr id="29" name="Shape 27"/>
          <p:cNvSpPr/>
          <p:nvPr/>
        </p:nvSpPr>
        <p:spPr>
          <a:xfrm>
            <a:off x="457200" y="4297680"/>
            <a:ext cx="73152" cy="594360"/>
          </a:xfrm>
          <a:prstGeom prst="rect">
            <a:avLst/>
          </a:prstGeom>
          <a:solidFill>
            <a:srgbClr val="003366"/>
          </a:solidFill>
          <a:ln/>
        </p:spPr>
      </p:sp>
      <p:sp>
        <p:nvSpPr>
          <p:cNvPr id="30" name="Text 28"/>
          <p:cNvSpPr/>
          <p:nvPr/>
        </p:nvSpPr>
        <p:spPr>
          <a:xfrm>
            <a:off x="640080" y="4297680"/>
            <a:ext cx="384048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0D1B2A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Marine Oil</a:t>
            </a:r>
            <a:endParaRPr lang="en-US" sz="1200" dirty="0"/>
          </a:p>
        </p:txBody>
      </p:sp>
      <p:sp>
        <p:nvSpPr>
          <p:cNvPr id="31" name="Text 29"/>
          <p:cNvSpPr/>
          <p:nvPr/>
        </p:nvSpPr>
        <p:spPr>
          <a:xfrm>
            <a:off x="640080" y="4590288"/>
            <a:ext cx="384048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66666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Marine Lubricating Oil</a:t>
            </a:r>
            <a:endParaRPr lang="en-US" sz="1000" dirty="0"/>
          </a:p>
        </p:txBody>
      </p:sp>
      <p:sp>
        <p:nvSpPr>
          <p:cNvPr id="32" name="Shape 30"/>
          <p:cNvSpPr/>
          <p:nvPr/>
        </p:nvSpPr>
        <p:spPr>
          <a:xfrm>
            <a:off x="4846320" y="4297680"/>
            <a:ext cx="73152" cy="594360"/>
          </a:xfrm>
          <a:prstGeom prst="rect">
            <a:avLst/>
          </a:prstGeom>
          <a:solidFill>
            <a:srgbClr val="1A1A1A"/>
          </a:solidFill>
          <a:ln/>
        </p:spPr>
      </p:sp>
      <p:sp>
        <p:nvSpPr>
          <p:cNvPr id="33" name="Text 31"/>
          <p:cNvSpPr/>
          <p:nvPr/>
        </p:nvSpPr>
        <p:spPr>
          <a:xfrm>
            <a:off x="5029200" y="4297680"/>
            <a:ext cx="384048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0D1B2A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Fuel Oil</a:t>
            </a:r>
            <a:endParaRPr lang="en-US" sz="1200" dirty="0"/>
          </a:p>
        </p:txBody>
      </p:sp>
      <p:sp>
        <p:nvSpPr>
          <p:cNvPr id="34" name="Text 32"/>
          <p:cNvSpPr/>
          <p:nvPr/>
        </p:nvSpPr>
        <p:spPr>
          <a:xfrm>
            <a:off x="5029200" y="4590288"/>
            <a:ext cx="384048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66666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Industrial Fuel Oil No.4</a:t>
            </a:r>
            <a:endParaRPr lang="en-US" sz="10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54864"/>
          </a:xfrm>
          <a:prstGeom prst="rect">
            <a:avLst/>
          </a:prstGeom>
          <a:solidFill>
            <a:srgbClr val="0066CC"/>
          </a:solidFill>
          <a:ln/>
        </p:spPr>
      </p:sp>
      <p:sp>
        <p:nvSpPr>
          <p:cNvPr id="3" name="Text 1"/>
          <p:cNvSpPr/>
          <p:nvPr/>
        </p:nvSpPr>
        <p:spPr>
          <a:xfrm>
            <a:off x="548640" y="274320"/>
            <a:ext cx="731520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0D1B2A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Featured Products</a:t>
            </a:r>
            <a:endParaRPr lang="en-US" sz="2800" dirty="0"/>
          </a:p>
        </p:txBody>
      </p:sp>
      <p:sp>
        <p:nvSpPr>
          <p:cNvPr id="4" name="Shape 2"/>
          <p:cNvSpPr/>
          <p:nvPr/>
        </p:nvSpPr>
        <p:spPr>
          <a:xfrm>
            <a:off x="548640" y="960120"/>
            <a:ext cx="1371600" cy="36576"/>
          </a:xfrm>
          <a:prstGeom prst="rect">
            <a:avLst/>
          </a:prstGeom>
          <a:solidFill>
            <a:srgbClr val="00A3E0"/>
          </a:solidFill>
          <a:ln/>
        </p:spPr>
      </p:sp>
      <p:sp>
        <p:nvSpPr>
          <p:cNvPr id="5" name="Shape 3"/>
          <p:cNvSpPr/>
          <p:nvPr/>
        </p:nvSpPr>
        <p:spPr>
          <a:xfrm>
            <a:off x="365760" y="1188720"/>
            <a:ext cx="2697480" cy="1737360"/>
          </a:xfrm>
          <a:prstGeom prst="roundRect">
            <a:avLst>
              <a:gd name="adj" fmla="val 5263"/>
            </a:avLst>
          </a:prstGeom>
          <a:solidFill>
            <a:srgbClr val="F0F7FC"/>
          </a:solidFill>
          <a:ln w="6350">
            <a:solidFill>
              <a:srgbClr val="92BDDD"/>
            </a:solidFill>
            <a:prstDash val="solid"/>
          </a:ln>
        </p:spPr>
      </p:sp>
      <p:sp>
        <p:nvSpPr>
          <p:cNvPr id="6" name="Shape 4"/>
          <p:cNvSpPr/>
          <p:nvPr/>
        </p:nvSpPr>
        <p:spPr>
          <a:xfrm>
            <a:off x="365760" y="1188720"/>
            <a:ext cx="2697480" cy="457200"/>
          </a:xfrm>
          <a:prstGeom prst="roundRect">
            <a:avLst>
              <a:gd name="adj" fmla="val 20000"/>
            </a:avLst>
          </a:prstGeom>
          <a:solidFill>
            <a:srgbClr val="0066CC"/>
          </a:solidFill>
          <a:ln/>
        </p:spPr>
      </p:sp>
      <p:sp>
        <p:nvSpPr>
          <p:cNvPr id="7" name="Shape 5"/>
          <p:cNvSpPr/>
          <p:nvPr/>
        </p:nvSpPr>
        <p:spPr>
          <a:xfrm>
            <a:off x="365760" y="1508760"/>
            <a:ext cx="2697480" cy="137160"/>
          </a:xfrm>
          <a:prstGeom prst="rect">
            <a:avLst/>
          </a:prstGeom>
          <a:solidFill>
            <a:srgbClr val="0066CC"/>
          </a:solidFill>
          <a:ln/>
        </p:spPr>
      </p:sp>
      <p:sp>
        <p:nvSpPr>
          <p:cNvPr id="8" name="Text 6"/>
          <p:cNvSpPr/>
          <p:nvPr/>
        </p:nvSpPr>
        <p:spPr>
          <a:xfrm>
            <a:off x="365760" y="1207008"/>
            <a:ext cx="269748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SP 5W-40 Full Synthetic</a:t>
            </a:r>
            <a:endParaRPr lang="en-US" sz="1100" dirty="0"/>
          </a:p>
        </p:txBody>
      </p:sp>
      <p:sp>
        <p:nvSpPr>
          <p:cNvPr id="9" name="Text 7"/>
          <p:cNvSpPr/>
          <p:nvPr/>
        </p:nvSpPr>
        <p:spPr>
          <a:xfrm>
            <a:off x="502920" y="1783080"/>
            <a:ext cx="242316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30000"/>
              </a:lnSpc>
              <a:buNone/>
            </a:pPr>
            <a:r>
              <a:rPr lang="en-US" sz="950" dirty="0">
                <a:solidFill>
                  <a:srgbClr val="0D1B2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API SP | PAO+Ester | 1L/4L/200L</a:t>
            </a:r>
            <a:endParaRPr lang="en-US" sz="950" dirty="0"/>
          </a:p>
        </p:txBody>
      </p:sp>
      <p:sp>
        <p:nvSpPr>
          <p:cNvPr id="10" name="Text 8"/>
          <p:cNvSpPr/>
          <p:nvPr/>
        </p:nvSpPr>
        <p:spPr>
          <a:xfrm>
            <a:off x="502920" y="2331720"/>
            <a:ext cx="242316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b="1" dirty="0">
                <a:solidFill>
                  <a:srgbClr val="0066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Application:</a:t>
            </a:r>
            <a:endParaRPr lang="en-US" sz="900" dirty="0"/>
          </a:p>
        </p:txBody>
      </p:sp>
      <p:sp>
        <p:nvSpPr>
          <p:cNvPr id="11" name="Text 9"/>
          <p:cNvSpPr/>
          <p:nvPr/>
        </p:nvSpPr>
        <p:spPr>
          <a:xfrm>
            <a:off x="502920" y="2560320"/>
            <a:ext cx="242316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66666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Passenger cars, SUV, Luxury vehicles</a:t>
            </a:r>
            <a:endParaRPr lang="en-US" sz="900" dirty="0"/>
          </a:p>
        </p:txBody>
      </p:sp>
      <p:sp>
        <p:nvSpPr>
          <p:cNvPr id="12" name="Shape 10"/>
          <p:cNvSpPr/>
          <p:nvPr/>
        </p:nvSpPr>
        <p:spPr>
          <a:xfrm>
            <a:off x="3291840" y="1188720"/>
            <a:ext cx="2697480" cy="1737360"/>
          </a:xfrm>
          <a:prstGeom prst="roundRect">
            <a:avLst>
              <a:gd name="adj" fmla="val 5263"/>
            </a:avLst>
          </a:prstGeom>
          <a:solidFill>
            <a:srgbClr val="F0F7FC"/>
          </a:solidFill>
          <a:ln w="6350">
            <a:solidFill>
              <a:srgbClr val="92BDDD"/>
            </a:solidFill>
            <a:prstDash val="solid"/>
          </a:ln>
        </p:spPr>
      </p:sp>
      <p:sp>
        <p:nvSpPr>
          <p:cNvPr id="13" name="Shape 11"/>
          <p:cNvSpPr/>
          <p:nvPr/>
        </p:nvSpPr>
        <p:spPr>
          <a:xfrm>
            <a:off x="3291840" y="1188720"/>
            <a:ext cx="2697480" cy="457200"/>
          </a:xfrm>
          <a:prstGeom prst="roundRect">
            <a:avLst>
              <a:gd name="adj" fmla="val 20000"/>
            </a:avLst>
          </a:prstGeom>
          <a:solidFill>
            <a:srgbClr val="0066CC"/>
          </a:solidFill>
          <a:ln/>
        </p:spPr>
      </p:sp>
      <p:sp>
        <p:nvSpPr>
          <p:cNvPr id="14" name="Shape 12"/>
          <p:cNvSpPr/>
          <p:nvPr/>
        </p:nvSpPr>
        <p:spPr>
          <a:xfrm>
            <a:off x="3291840" y="1508760"/>
            <a:ext cx="2697480" cy="137160"/>
          </a:xfrm>
          <a:prstGeom prst="rect">
            <a:avLst/>
          </a:prstGeom>
          <a:solidFill>
            <a:srgbClr val="0066CC"/>
          </a:solidFill>
          <a:ln/>
        </p:spPr>
      </p:sp>
      <p:sp>
        <p:nvSpPr>
          <p:cNvPr id="15" name="Text 13"/>
          <p:cNvSpPr/>
          <p:nvPr/>
        </p:nvSpPr>
        <p:spPr>
          <a:xfrm>
            <a:off x="3291840" y="1207008"/>
            <a:ext cx="269748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CJ-4/SN+ 10W-40 Diesel</a:t>
            </a:r>
            <a:endParaRPr lang="en-US" sz="1100" dirty="0"/>
          </a:p>
        </p:txBody>
      </p:sp>
      <p:sp>
        <p:nvSpPr>
          <p:cNvPr id="16" name="Text 14"/>
          <p:cNvSpPr/>
          <p:nvPr/>
        </p:nvSpPr>
        <p:spPr>
          <a:xfrm>
            <a:off x="3429000" y="1783080"/>
            <a:ext cx="242316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30000"/>
              </a:lnSpc>
              <a:buNone/>
            </a:pPr>
            <a:r>
              <a:rPr lang="en-US" sz="950" dirty="0">
                <a:solidFill>
                  <a:srgbClr val="0D1B2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API CJ-4 | Synthetic Blend | 4L/18L/200L</a:t>
            </a:r>
            <a:endParaRPr lang="en-US" sz="950" dirty="0"/>
          </a:p>
        </p:txBody>
      </p:sp>
      <p:sp>
        <p:nvSpPr>
          <p:cNvPr id="17" name="Text 15"/>
          <p:cNvSpPr/>
          <p:nvPr/>
        </p:nvSpPr>
        <p:spPr>
          <a:xfrm>
            <a:off x="3429000" y="2331720"/>
            <a:ext cx="242316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b="1" dirty="0">
                <a:solidFill>
                  <a:srgbClr val="0066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Application:</a:t>
            </a:r>
            <a:endParaRPr lang="en-US" sz="900" dirty="0"/>
          </a:p>
        </p:txBody>
      </p:sp>
      <p:sp>
        <p:nvSpPr>
          <p:cNvPr id="18" name="Text 16"/>
          <p:cNvSpPr/>
          <p:nvPr/>
        </p:nvSpPr>
        <p:spPr>
          <a:xfrm>
            <a:off x="3429000" y="2560320"/>
            <a:ext cx="242316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66666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Heavy-duty trucks, Commercial vehicles</a:t>
            </a:r>
            <a:endParaRPr lang="en-US" sz="900" dirty="0"/>
          </a:p>
        </p:txBody>
      </p:sp>
      <p:sp>
        <p:nvSpPr>
          <p:cNvPr id="19" name="Shape 17"/>
          <p:cNvSpPr/>
          <p:nvPr/>
        </p:nvSpPr>
        <p:spPr>
          <a:xfrm>
            <a:off x="6217920" y="1188720"/>
            <a:ext cx="2697480" cy="1737360"/>
          </a:xfrm>
          <a:prstGeom prst="roundRect">
            <a:avLst>
              <a:gd name="adj" fmla="val 5263"/>
            </a:avLst>
          </a:prstGeom>
          <a:solidFill>
            <a:srgbClr val="F0F7FC"/>
          </a:solidFill>
          <a:ln w="6350">
            <a:solidFill>
              <a:srgbClr val="92BDDD"/>
            </a:solidFill>
            <a:prstDash val="solid"/>
          </a:ln>
        </p:spPr>
      </p:sp>
      <p:sp>
        <p:nvSpPr>
          <p:cNvPr id="20" name="Shape 18"/>
          <p:cNvSpPr/>
          <p:nvPr/>
        </p:nvSpPr>
        <p:spPr>
          <a:xfrm>
            <a:off x="6217920" y="1188720"/>
            <a:ext cx="2697480" cy="457200"/>
          </a:xfrm>
          <a:prstGeom prst="roundRect">
            <a:avLst>
              <a:gd name="adj" fmla="val 20000"/>
            </a:avLst>
          </a:prstGeom>
          <a:solidFill>
            <a:srgbClr val="0066CC"/>
          </a:solidFill>
          <a:ln/>
        </p:spPr>
      </p:sp>
      <p:sp>
        <p:nvSpPr>
          <p:cNvPr id="21" name="Shape 19"/>
          <p:cNvSpPr/>
          <p:nvPr/>
        </p:nvSpPr>
        <p:spPr>
          <a:xfrm>
            <a:off x="6217920" y="1508760"/>
            <a:ext cx="2697480" cy="137160"/>
          </a:xfrm>
          <a:prstGeom prst="rect">
            <a:avLst/>
          </a:prstGeom>
          <a:solidFill>
            <a:srgbClr val="0066CC"/>
          </a:solidFill>
          <a:ln/>
        </p:spPr>
      </p:sp>
      <p:sp>
        <p:nvSpPr>
          <p:cNvPr id="22" name="Text 20"/>
          <p:cNvSpPr/>
          <p:nvPr/>
        </p:nvSpPr>
        <p:spPr>
          <a:xfrm>
            <a:off x="6217920" y="1207008"/>
            <a:ext cx="269748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L-HM Hydraulic Oil 46#</a:t>
            </a:r>
            <a:endParaRPr lang="en-US" sz="1100" dirty="0"/>
          </a:p>
        </p:txBody>
      </p:sp>
      <p:sp>
        <p:nvSpPr>
          <p:cNvPr id="23" name="Text 21"/>
          <p:cNvSpPr/>
          <p:nvPr/>
        </p:nvSpPr>
        <p:spPr>
          <a:xfrm>
            <a:off x="6355080" y="1783080"/>
            <a:ext cx="242316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30000"/>
              </a:lnSpc>
              <a:buNone/>
            </a:pPr>
            <a:r>
              <a:rPr lang="en-US" sz="950" dirty="0">
                <a:solidFill>
                  <a:srgbClr val="0D1B2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ISO VG 46 | Anti-wear | 18L/200L</a:t>
            </a:r>
            <a:endParaRPr lang="en-US" sz="950" dirty="0"/>
          </a:p>
        </p:txBody>
      </p:sp>
      <p:sp>
        <p:nvSpPr>
          <p:cNvPr id="24" name="Text 22"/>
          <p:cNvSpPr/>
          <p:nvPr/>
        </p:nvSpPr>
        <p:spPr>
          <a:xfrm>
            <a:off x="6355080" y="2331720"/>
            <a:ext cx="242316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b="1" dirty="0">
                <a:solidFill>
                  <a:srgbClr val="0066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Application:</a:t>
            </a:r>
            <a:endParaRPr lang="en-US" sz="900" dirty="0"/>
          </a:p>
        </p:txBody>
      </p:sp>
      <p:sp>
        <p:nvSpPr>
          <p:cNvPr id="25" name="Text 23"/>
          <p:cNvSpPr/>
          <p:nvPr/>
        </p:nvSpPr>
        <p:spPr>
          <a:xfrm>
            <a:off x="6355080" y="2560320"/>
            <a:ext cx="242316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66666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Industrial hydraulic systems</a:t>
            </a:r>
            <a:endParaRPr lang="en-US" sz="900" dirty="0"/>
          </a:p>
        </p:txBody>
      </p:sp>
      <p:sp>
        <p:nvSpPr>
          <p:cNvPr id="26" name="Shape 24"/>
          <p:cNvSpPr/>
          <p:nvPr/>
        </p:nvSpPr>
        <p:spPr>
          <a:xfrm>
            <a:off x="365760" y="3200400"/>
            <a:ext cx="2697480" cy="1737360"/>
          </a:xfrm>
          <a:prstGeom prst="roundRect">
            <a:avLst>
              <a:gd name="adj" fmla="val 5263"/>
            </a:avLst>
          </a:prstGeom>
          <a:solidFill>
            <a:srgbClr val="F0F7FC"/>
          </a:solidFill>
          <a:ln w="6350">
            <a:solidFill>
              <a:srgbClr val="92BDDD"/>
            </a:solidFill>
            <a:prstDash val="solid"/>
          </a:ln>
        </p:spPr>
      </p:sp>
      <p:sp>
        <p:nvSpPr>
          <p:cNvPr id="27" name="Shape 25"/>
          <p:cNvSpPr/>
          <p:nvPr/>
        </p:nvSpPr>
        <p:spPr>
          <a:xfrm>
            <a:off x="365760" y="3200400"/>
            <a:ext cx="2697480" cy="457200"/>
          </a:xfrm>
          <a:prstGeom prst="roundRect">
            <a:avLst>
              <a:gd name="adj" fmla="val 20000"/>
            </a:avLst>
          </a:prstGeom>
          <a:solidFill>
            <a:srgbClr val="0066CC"/>
          </a:solidFill>
          <a:ln/>
        </p:spPr>
      </p:sp>
      <p:sp>
        <p:nvSpPr>
          <p:cNvPr id="28" name="Shape 26"/>
          <p:cNvSpPr/>
          <p:nvPr/>
        </p:nvSpPr>
        <p:spPr>
          <a:xfrm>
            <a:off x="365760" y="3520440"/>
            <a:ext cx="2697480" cy="137160"/>
          </a:xfrm>
          <a:prstGeom prst="rect">
            <a:avLst/>
          </a:prstGeom>
          <a:solidFill>
            <a:srgbClr val="0066CC"/>
          </a:solidFill>
          <a:ln/>
        </p:spPr>
      </p:sp>
      <p:sp>
        <p:nvSpPr>
          <p:cNvPr id="29" name="Text 27"/>
          <p:cNvSpPr/>
          <p:nvPr/>
        </p:nvSpPr>
        <p:spPr>
          <a:xfrm>
            <a:off x="365760" y="3218688"/>
            <a:ext cx="269748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DOT 4 Brake Fluid</a:t>
            </a:r>
            <a:endParaRPr lang="en-US" sz="1100" dirty="0"/>
          </a:p>
        </p:txBody>
      </p:sp>
      <p:sp>
        <p:nvSpPr>
          <p:cNvPr id="30" name="Text 28"/>
          <p:cNvSpPr/>
          <p:nvPr/>
        </p:nvSpPr>
        <p:spPr>
          <a:xfrm>
            <a:off x="502920" y="3794760"/>
            <a:ext cx="242316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30000"/>
              </a:lnSpc>
              <a:buNone/>
            </a:pPr>
            <a:r>
              <a:rPr lang="en-US" sz="950" dirty="0">
                <a:solidFill>
                  <a:srgbClr val="0D1B2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FMVSS 116 | BP &gt;=230C | 0.5L/1L/4L</a:t>
            </a:r>
            <a:endParaRPr lang="en-US" sz="950" dirty="0"/>
          </a:p>
        </p:txBody>
      </p:sp>
      <p:sp>
        <p:nvSpPr>
          <p:cNvPr id="31" name="Text 29"/>
          <p:cNvSpPr/>
          <p:nvPr/>
        </p:nvSpPr>
        <p:spPr>
          <a:xfrm>
            <a:off x="502920" y="4343400"/>
            <a:ext cx="242316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b="1" dirty="0">
                <a:solidFill>
                  <a:srgbClr val="0066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Application:</a:t>
            </a:r>
            <a:endParaRPr lang="en-US" sz="900" dirty="0"/>
          </a:p>
        </p:txBody>
      </p:sp>
      <p:sp>
        <p:nvSpPr>
          <p:cNvPr id="32" name="Text 30"/>
          <p:cNvSpPr/>
          <p:nvPr/>
        </p:nvSpPr>
        <p:spPr>
          <a:xfrm>
            <a:off x="502920" y="4572000"/>
            <a:ext cx="242316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66666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Passenger &amp; commercial vehicles</a:t>
            </a:r>
            <a:endParaRPr lang="en-US" sz="900" dirty="0"/>
          </a:p>
        </p:txBody>
      </p:sp>
      <p:sp>
        <p:nvSpPr>
          <p:cNvPr id="33" name="Shape 31"/>
          <p:cNvSpPr/>
          <p:nvPr/>
        </p:nvSpPr>
        <p:spPr>
          <a:xfrm>
            <a:off x="3291840" y="3200400"/>
            <a:ext cx="2697480" cy="1737360"/>
          </a:xfrm>
          <a:prstGeom prst="roundRect">
            <a:avLst>
              <a:gd name="adj" fmla="val 5263"/>
            </a:avLst>
          </a:prstGeom>
          <a:solidFill>
            <a:srgbClr val="F0F7FC"/>
          </a:solidFill>
          <a:ln w="6350">
            <a:solidFill>
              <a:srgbClr val="92BDDD"/>
            </a:solidFill>
            <a:prstDash val="solid"/>
          </a:ln>
        </p:spPr>
      </p:sp>
      <p:sp>
        <p:nvSpPr>
          <p:cNvPr id="34" name="Shape 32"/>
          <p:cNvSpPr/>
          <p:nvPr/>
        </p:nvSpPr>
        <p:spPr>
          <a:xfrm>
            <a:off x="3291840" y="3200400"/>
            <a:ext cx="2697480" cy="457200"/>
          </a:xfrm>
          <a:prstGeom prst="roundRect">
            <a:avLst>
              <a:gd name="adj" fmla="val 20000"/>
            </a:avLst>
          </a:prstGeom>
          <a:solidFill>
            <a:srgbClr val="0066CC"/>
          </a:solidFill>
          <a:ln/>
        </p:spPr>
      </p:sp>
      <p:sp>
        <p:nvSpPr>
          <p:cNvPr id="35" name="Shape 33"/>
          <p:cNvSpPr/>
          <p:nvPr/>
        </p:nvSpPr>
        <p:spPr>
          <a:xfrm>
            <a:off x="3291840" y="3520440"/>
            <a:ext cx="2697480" cy="137160"/>
          </a:xfrm>
          <a:prstGeom prst="rect">
            <a:avLst/>
          </a:prstGeom>
          <a:solidFill>
            <a:srgbClr val="0066CC"/>
          </a:solidFill>
          <a:ln/>
        </p:spPr>
      </p:sp>
      <p:sp>
        <p:nvSpPr>
          <p:cNvPr id="36" name="Text 34"/>
          <p:cNvSpPr/>
          <p:nvPr/>
        </p:nvSpPr>
        <p:spPr>
          <a:xfrm>
            <a:off x="3291840" y="3218688"/>
            <a:ext cx="269748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EP 150 Gear Oil</a:t>
            </a:r>
            <a:endParaRPr lang="en-US" sz="1100" dirty="0"/>
          </a:p>
        </p:txBody>
      </p:sp>
      <p:sp>
        <p:nvSpPr>
          <p:cNvPr id="37" name="Text 35"/>
          <p:cNvSpPr/>
          <p:nvPr/>
        </p:nvSpPr>
        <p:spPr>
          <a:xfrm>
            <a:off x="3429000" y="3794760"/>
            <a:ext cx="242316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30000"/>
              </a:lnSpc>
              <a:buNone/>
            </a:pPr>
            <a:r>
              <a:rPr lang="en-US" sz="950" dirty="0">
                <a:solidFill>
                  <a:srgbClr val="0D1B2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ISO VG 150 | Extreme Pressure | 18L/200L</a:t>
            </a:r>
            <a:endParaRPr lang="en-US" sz="950" dirty="0"/>
          </a:p>
        </p:txBody>
      </p:sp>
      <p:sp>
        <p:nvSpPr>
          <p:cNvPr id="38" name="Text 36"/>
          <p:cNvSpPr/>
          <p:nvPr/>
        </p:nvSpPr>
        <p:spPr>
          <a:xfrm>
            <a:off x="3429000" y="4343400"/>
            <a:ext cx="242316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b="1" dirty="0">
                <a:solidFill>
                  <a:srgbClr val="0066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Application:</a:t>
            </a:r>
            <a:endParaRPr lang="en-US" sz="900" dirty="0"/>
          </a:p>
        </p:txBody>
      </p:sp>
      <p:sp>
        <p:nvSpPr>
          <p:cNvPr id="39" name="Text 37"/>
          <p:cNvSpPr/>
          <p:nvPr/>
        </p:nvSpPr>
        <p:spPr>
          <a:xfrm>
            <a:off x="3429000" y="4572000"/>
            <a:ext cx="242316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66666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Industrial gearboxes, Bearings</a:t>
            </a:r>
            <a:endParaRPr lang="en-US" sz="900" dirty="0"/>
          </a:p>
        </p:txBody>
      </p:sp>
      <p:sp>
        <p:nvSpPr>
          <p:cNvPr id="40" name="Shape 38"/>
          <p:cNvSpPr/>
          <p:nvPr/>
        </p:nvSpPr>
        <p:spPr>
          <a:xfrm>
            <a:off x="6217920" y="3200400"/>
            <a:ext cx="2697480" cy="1737360"/>
          </a:xfrm>
          <a:prstGeom prst="roundRect">
            <a:avLst>
              <a:gd name="adj" fmla="val 5263"/>
            </a:avLst>
          </a:prstGeom>
          <a:solidFill>
            <a:srgbClr val="F0F7FC"/>
          </a:solidFill>
          <a:ln w="6350">
            <a:solidFill>
              <a:srgbClr val="92BDDD"/>
            </a:solidFill>
            <a:prstDash val="solid"/>
          </a:ln>
        </p:spPr>
      </p:sp>
      <p:sp>
        <p:nvSpPr>
          <p:cNvPr id="41" name="Shape 39"/>
          <p:cNvSpPr/>
          <p:nvPr/>
        </p:nvSpPr>
        <p:spPr>
          <a:xfrm>
            <a:off x="6217920" y="3200400"/>
            <a:ext cx="2697480" cy="457200"/>
          </a:xfrm>
          <a:prstGeom prst="roundRect">
            <a:avLst>
              <a:gd name="adj" fmla="val 20000"/>
            </a:avLst>
          </a:prstGeom>
          <a:solidFill>
            <a:srgbClr val="0066CC"/>
          </a:solidFill>
          <a:ln/>
        </p:spPr>
      </p:sp>
      <p:sp>
        <p:nvSpPr>
          <p:cNvPr id="42" name="Shape 40"/>
          <p:cNvSpPr/>
          <p:nvPr/>
        </p:nvSpPr>
        <p:spPr>
          <a:xfrm>
            <a:off x="6217920" y="3520440"/>
            <a:ext cx="2697480" cy="137160"/>
          </a:xfrm>
          <a:prstGeom prst="rect">
            <a:avLst/>
          </a:prstGeom>
          <a:solidFill>
            <a:srgbClr val="0066CC"/>
          </a:solidFill>
          <a:ln/>
        </p:spPr>
      </p:sp>
      <p:sp>
        <p:nvSpPr>
          <p:cNvPr id="43" name="Text 41"/>
          <p:cNvSpPr/>
          <p:nvPr/>
        </p:nvSpPr>
        <p:spPr>
          <a:xfrm>
            <a:off x="6217920" y="3218688"/>
            <a:ext cx="269748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Lithium Base Grease</a:t>
            </a:r>
            <a:endParaRPr lang="en-US" sz="1100" dirty="0"/>
          </a:p>
        </p:txBody>
      </p:sp>
      <p:sp>
        <p:nvSpPr>
          <p:cNvPr id="44" name="Text 42"/>
          <p:cNvSpPr/>
          <p:nvPr/>
        </p:nvSpPr>
        <p:spPr>
          <a:xfrm>
            <a:off x="6355080" y="3794760"/>
            <a:ext cx="242316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30000"/>
              </a:lnSpc>
              <a:buNone/>
            </a:pPr>
            <a:r>
              <a:rPr lang="en-US" sz="950" dirty="0">
                <a:solidFill>
                  <a:srgbClr val="0D1B2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NLGI 2/3 | DP &gt;=180C | 1kg/15kg/180kg</a:t>
            </a:r>
            <a:endParaRPr lang="en-US" sz="950" dirty="0"/>
          </a:p>
        </p:txBody>
      </p:sp>
      <p:sp>
        <p:nvSpPr>
          <p:cNvPr id="45" name="Text 43"/>
          <p:cNvSpPr/>
          <p:nvPr/>
        </p:nvSpPr>
        <p:spPr>
          <a:xfrm>
            <a:off x="6355080" y="4343400"/>
            <a:ext cx="242316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b="1" dirty="0">
                <a:solidFill>
                  <a:srgbClr val="0066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Application:</a:t>
            </a:r>
            <a:endParaRPr lang="en-US" sz="900" dirty="0"/>
          </a:p>
        </p:txBody>
      </p:sp>
      <p:sp>
        <p:nvSpPr>
          <p:cNvPr id="46" name="Text 44"/>
          <p:cNvSpPr/>
          <p:nvPr/>
        </p:nvSpPr>
        <p:spPr>
          <a:xfrm>
            <a:off x="6355080" y="4572000"/>
            <a:ext cx="242316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66666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Bearings, Chassis, Universal joints</a:t>
            </a:r>
            <a:endParaRPr lang="en-US" sz="9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0D1B2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54864"/>
          </a:xfrm>
          <a:prstGeom prst="rect">
            <a:avLst/>
          </a:prstGeom>
          <a:solidFill>
            <a:srgbClr val="92BDDD"/>
          </a:solidFill>
          <a:ln/>
        </p:spPr>
      </p:sp>
      <p:sp>
        <p:nvSpPr>
          <p:cNvPr id="3" name="Text 1"/>
          <p:cNvSpPr/>
          <p:nvPr/>
        </p:nvSpPr>
        <p:spPr>
          <a:xfrm>
            <a:off x="548640" y="274320"/>
            <a:ext cx="731520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FFFFFF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OEM / ODM Service</a:t>
            </a:r>
            <a:endParaRPr lang="en-US" sz="2800" dirty="0"/>
          </a:p>
        </p:txBody>
      </p:sp>
      <p:sp>
        <p:nvSpPr>
          <p:cNvPr id="4" name="Shape 2"/>
          <p:cNvSpPr/>
          <p:nvPr/>
        </p:nvSpPr>
        <p:spPr>
          <a:xfrm>
            <a:off x="548640" y="960120"/>
            <a:ext cx="1371600" cy="36576"/>
          </a:xfrm>
          <a:prstGeom prst="rect">
            <a:avLst/>
          </a:prstGeom>
          <a:solidFill>
            <a:srgbClr val="00A3E0"/>
          </a:solidFill>
          <a:ln/>
        </p:spPr>
      </p:sp>
      <p:sp>
        <p:nvSpPr>
          <p:cNvPr id="5" name="Text 3"/>
          <p:cNvSpPr/>
          <p:nvPr/>
        </p:nvSpPr>
        <p:spPr>
          <a:xfrm>
            <a:off x="548640" y="1188720"/>
            <a:ext cx="804672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50000"/>
              </a:lnSpc>
              <a:buNone/>
            </a:pPr>
            <a:r>
              <a:rPr lang="en-US" sz="1200" dirty="0">
                <a:solidFill>
                  <a:srgbClr val="CCCC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We provide complete OEM and ODM solutions for lubricant brands worldwide. From formula development to packaging design, we deliver turnkey solutions.</a:t>
            </a:r>
            <a:endParaRPr lang="en-US" sz="1200" dirty="0"/>
          </a:p>
        </p:txBody>
      </p:sp>
      <p:sp>
        <p:nvSpPr>
          <p:cNvPr id="6" name="Shape 4"/>
          <p:cNvSpPr/>
          <p:nvPr/>
        </p:nvSpPr>
        <p:spPr>
          <a:xfrm>
            <a:off x="548640" y="2103120"/>
            <a:ext cx="548640" cy="548640"/>
          </a:xfrm>
          <a:prstGeom prst="roundRect">
            <a:avLst>
              <a:gd name="adj" fmla="val 13333"/>
            </a:avLst>
          </a:prstGeom>
          <a:solidFill>
            <a:srgbClr val="00A3E0"/>
          </a:solidFill>
          <a:ln/>
        </p:spPr>
      </p:sp>
      <p:sp>
        <p:nvSpPr>
          <p:cNvPr id="7" name="Text 5"/>
          <p:cNvSpPr/>
          <p:nvPr/>
        </p:nvSpPr>
        <p:spPr>
          <a:xfrm>
            <a:off x="548640" y="2103120"/>
            <a:ext cx="54864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800" dirty="0">
                <a:solidFill>
                  <a:srgbClr val="FFFFFF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01</a:t>
            </a:r>
            <a:endParaRPr lang="en-US" sz="1800" dirty="0"/>
          </a:p>
        </p:txBody>
      </p:sp>
      <p:sp>
        <p:nvSpPr>
          <p:cNvPr id="8" name="Text 6"/>
          <p:cNvSpPr/>
          <p:nvPr/>
        </p:nvSpPr>
        <p:spPr>
          <a:xfrm>
            <a:off x="1280160" y="2103120"/>
            <a:ext cx="2743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Formula Development</a:t>
            </a:r>
            <a:endParaRPr lang="en-US" sz="1300" dirty="0"/>
          </a:p>
        </p:txBody>
      </p:sp>
      <p:sp>
        <p:nvSpPr>
          <p:cNvPr id="9" name="Text 7"/>
          <p:cNvSpPr/>
          <p:nvPr/>
        </p:nvSpPr>
        <p:spPr>
          <a:xfrm>
            <a:off x="1280160" y="2377440"/>
            <a:ext cx="64008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92BDD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Custom formulations per market requirements and API standards</a:t>
            </a:r>
            <a:endParaRPr lang="en-US" sz="1000" dirty="0"/>
          </a:p>
        </p:txBody>
      </p:sp>
      <p:sp>
        <p:nvSpPr>
          <p:cNvPr id="10" name="Shape 8"/>
          <p:cNvSpPr/>
          <p:nvPr/>
        </p:nvSpPr>
        <p:spPr>
          <a:xfrm>
            <a:off x="548640" y="2834640"/>
            <a:ext cx="548640" cy="548640"/>
          </a:xfrm>
          <a:prstGeom prst="roundRect">
            <a:avLst>
              <a:gd name="adj" fmla="val 13333"/>
            </a:avLst>
          </a:prstGeom>
          <a:solidFill>
            <a:srgbClr val="00A3E0"/>
          </a:solidFill>
          <a:ln/>
        </p:spPr>
      </p:sp>
      <p:sp>
        <p:nvSpPr>
          <p:cNvPr id="11" name="Text 9"/>
          <p:cNvSpPr/>
          <p:nvPr/>
        </p:nvSpPr>
        <p:spPr>
          <a:xfrm>
            <a:off x="548640" y="2834640"/>
            <a:ext cx="54864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800" dirty="0">
                <a:solidFill>
                  <a:srgbClr val="FFFFFF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02</a:t>
            </a:r>
            <a:endParaRPr lang="en-US" sz="1800" dirty="0"/>
          </a:p>
        </p:txBody>
      </p:sp>
      <p:sp>
        <p:nvSpPr>
          <p:cNvPr id="12" name="Text 10"/>
          <p:cNvSpPr/>
          <p:nvPr/>
        </p:nvSpPr>
        <p:spPr>
          <a:xfrm>
            <a:off x="1280160" y="2834640"/>
            <a:ext cx="2743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Packaging Design</a:t>
            </a:r>
            <a:endParaRPr lang="en-US" sz="1300" dirty="0"/>
          </a:p>
        </p:txBody>
      </p:sp>
      <p:sp>
        <p:nvSpPr>
          <p:cNvPr id="13" name="Text 11"/>
          <p:cNvSpPr/>
          <p:nvPr/>
        </p:nvSpPr>
        <p:spPr>
          <a:xfrm>
            <a:off x="1280160" y="3108960"/>
            <a:ext cx="64008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92BDD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Private label design, bottle/barrel/drum packaging</a:t>
            </a:r>
            <a:endParaRPr lang="en-US" sz="1000" dirty="0"/>
          </a:p>
        </p:txBody>
      </p:sp>
      <p:sp>
        <p:nvSpPr>
          <p:cNvPr id="14" name="Shape 12"/>
          <p:cNvSpPr/>
          <p:nvPr/>
        </p:nvSpPr>
        <p:spPr>
          <a:xfrm>
            <a:off x="548640" y="3566160"/>
            <a:ext cx="548640" cy="548640"/>
          </a:xfrm>
          <a:prstGeom prst="roundRect">
            <a:avLst>
              <a:gd name="adj" fmla="val 13333"/>
            </a:avLst>
          </a:prstGeom>
          <a:solidFill>
            <a:srgbClr val="00A3E0"/>
          </a:solidFill>
          <a:ln/>
        </p:spPr>
      </p:sp>
      <p:sp>
        <p:nvSpPr>
          <p:cNvPr id="15" name="Text 13"/>
          <p:cNvSpPr/>
          <p:nvPr/>
        </p:nvSpPr>
        <p:spPr>
          <a:xfrm>
            <a:off x="548640" y="3566160"/>
            <a:ext cx="54864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800" dirty="0">
                <a:solidFill>
                  <a:srgbClr val="FFFFFF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03</a:t>
            </a:r>
            <a:endParaRPr lang="en-US" sz="1800" dirty="0"/>
          </a:p>
        </p:txBody>
      </p:sp>
      <p:sp>
        <p:nvSpPr>
          <p:cNvPr id="16" name="Text 14"/>
          <p:cNvSpPr/>
          <p:nvPr/>
        </p:nvSpPr>
        <p:spPr>
          <a:xfrm>
            <a:off x="1280160" y="3566160"/>
            <a:ext cx="2743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Production &amp; QC</a:t>
            </a:r>
            <a:endParaRPr lang="en-US" sz="1300" dirty="0"/>
          </a:p>
        </p:txBody>
      </p:sp>
      <p:sp>
        <p:nvSpPr>
          <p:cNvPr id="17" name="Text 15"/>
          <p:cNvSpPr/>
          <p:nvPr/>
        </p:nvSpPr>
        <p:spPr>
          <a:xfrm>
            <a:off x="1280160" y="3840480"/>
            <a:ext cx="64008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92BDD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Full production with strict quality control and testing</a:t>
            </a:r>
            <a:endParaRPr lang="en-US" sz="1000" dirty="0"/>
          </a:p>
        </p:txBody>
      </p:sp>
      <p:sp>
        <p:nvSpPr>
          <p:cNvPr id="18" name="Shape 16"/>
          <p:cNvSpPr/>
          <p:nvPr/>
        </p:nvSpPr>
        <p:spPr>
          <a:xfrm>
            <a:off x="548640" y="4297680"/>
            <a:ext cx="548640" cy="548640"/>
          </a:xfrm>
          <a:prstGeom prst="roundRect">
            <a:avLst>
              <a:gd name="adj" fmla="val 13333"/>
            </a:avLst>
          </a:prstGeom>
          <a:solidFill>
            <a:srgbClr val="00A3E0"/>
          </a:solidFill>
          <a:ln/>
        </p:spPr>
      </p:sp>
      <p:sp>
        <p:nvSpPr>
          <p:cNvPr id="19" name="Text 17"/>
          <p:cNvSpPr/>
          <p:nvPr/>
        </p:nvSpPr>
        <p:spPr>
          <a:xfrm>
            <a:off x="548640" y="4297680"/>
            <a:ext cx="54864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800" dirty="0">
                <a:solidFill>
                  <a:srgbClr val="FFFFFF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04</a:t>
            </a:r>
            <a:endParaRPr lang="en-US" sz="1800" dirty="0"/>
          </a:p>
        </p:txBody>
      </p:sp>
      <p:sp>
        <p:nvSpPr>
          <p:cNvPr id="20" name="Text 18"/>
          <p:cNvSpPr/>
          <p:nvPr/>
        </p:nvSpPr>
        <p:spPr>
          <a:xfrm>
            <a:off x="1280160" y="4297680"/>
            <a:ext cx="2743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Global Delivery</a:t>
            </a:r>
            <a:endParaRPr lang="en-US" sz="1300" dirty="0"/>
          </a:p>
        </p:txBody>
      </p:sp>
      <p:sp>
        <p:nvSpPr>
          <p:cNvPr id="21" name="Text 19"/>
          <p:cNvSpPr/>
          <p:nvPr/>
        </p:nvSpPr>
        <p:spPr>
          <a:xfrm>
            <a:off x="1280160" y="4572000"/>
            <a:ext cx="64008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92BDD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FOB/CIF/CFR shipping to worldwide destinations</a:t>
            </a:r>
            <a:endParaRPr lang="en-US" sz="100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0D1B2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54864"/>
          </a:xfrm>
          <a:prstGeom prst="rect">
            <a:avLst/>
          </a:prstGeom>
          <a:solidFill>
            <a:srgbClr val="92BDDD"/>
          </a:solidFill>
          <a:ln/>
        </p:spPr>
      </p:sp>
      <p:sp>
        <p:nvSpPr>
          <p:cNvPr id="3" name="Shape 1"/>
          <p:cNvSpPr/>
          <p:nvPr/>
        </p:nvSpPr>
        <p:spPr>
          <a:xfrm>
            <a:off x="0" y="4732020"/>
            <a:ext cx="9144000" cy="73152"/>
          </a:xfrm>
          <a:prstGeom prst="rect">
            <a:avLst/>
          </a:prstGeom>
          <a:solidFill>
            <a:srgbClr val="92BDDD"/>
          </a:solidFill>
          <a:ln/>
        </p:spPr>
      </p:sp>
      <p:sp>
        <p:nvSpPr>
          <p:cNvPr id="4" name="Text 2"/>
          <p:cNvSpPr/>
          <p:nvPr/>
        </p:nvSpPr>
        <p:spPr>
          <a:xfrm>
            <a:off x="548640" y="457200"/>
            <a:ext cx="731520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rgbClr val="FFFFFF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Contact Us</a:t>
            </a:r>
            <a:endParaRPr lang="en-US" sz="3200" dirty="0"/>
          </a:p>
        </p:txBody>
      </p:sp>
      <p:sp>
        <p:nvSpPr>
          <p:cNvPr id="5" name="Shape 3"/>
          <p:cNvSpPr/>
          <p:nvPr/>
        </p:nvSpPr>
        <p:spPr>
          <a:xfrm>
            <a:off x="548640" y="1234440"/>
            <a:ext cx="1371600" cy="36576"/>
          </a:xfrm>
          <a:prstGeom prst="rect">
            <a:avLst/>
          </a:prstGeom>
          <a:solidFill>
            <a:srgbClr val="00A3E0"/>
          </a:solidFill>
          <a:ln/>
        </p:spPr>
      </p:sp>
      <p:sp>
        <p:nvSpPr>
          <p:cNvPr id="6" name="Shape 4"/>
          <p:cNvSpPr/>
          <p:nvPr/>
        </p:nvSpPr>
        <p:spPr>
          <a:xfrm>
            <a:off x="1097280" y="1645920"/>
            <a:ext cx="6949440" cy="502920"/>
          </a:xfrm>
          <a:prstGeom prst="roundRect">
            <a:avLst>
              <a:gd name="adj" fmla="val 9091"/>
            </a:avLst>
          </a:prstGeom>
          <a:solidFill>
            <a:srgbClr val="162236"/>
          </a:solidFill>
          <a:ln w="6350">
            <a:solidFill>
              <a:srgbClr val="2A3A4A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1280160" y="1645920"/>
            <a:ext cx="182880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92BDD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Company</a:t>
            </a:r>
            <a:endParaRPr lang="en-US" sz="1100" dirty="0"/>
          </a:p>
        </p:txBody>
      </p:sp>
      <p:sp>
        <p:nvSpPr>
          <p:cNvPr id="8" name="Text 6"/>
          <p:cNvSpPr/>
          <p:nvPr/>
        </p:nvSpPr>
        <p:spPr>
          <a:xfrm>
            <a:off x="3108960" y="1645920"/>
            <a:ext cx="475488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Shandong Boerjia Petrochemical Technology Co., Ltd.</a:t>
            </a:r>
            <a:endParaRPr lang="en-US" sz="1100" dirty="0"/>
          </a:p>
        </p:txBody>
      </p:sp>
      <p:sp>
        <p:nvSpPr>
          <p:cNvPr id="9" name="Shape 7"/>
          <p:cNvSpPr/>
          <p:nvPr/>
        </p:nvSpPr>
        <p:spPr>
          <a:xfrm>
            <a:off x="1097280" y="2286000"/>
            <a:ext cx="6949440" cy="502920"/>
          </a:xfrm>
          <a:prstGeom prst="roundRect">
            <a:avLst>
              <a:gd name="adj" fmla="val 9091"/>
            </a:avLst>
          </a:prstGeom>
          <a:solidFill>
            <a:srgbClr val="162236"/>
          </a:solidFill>
          <a:ln w="6350">
            <a:solidFill>
              <a:srgbClr val="2A3A4A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1280160" y="2286000"/>
            <a:ext cx="182880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92BDD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WhatsApp</a:t>
            </a:r>
            <a:endParaRPr lang="en-US" sz="1100" dirty="0"/>
          </a:p>
        </p:txBody>
      </p:sp>
      <p:sp>
        <p:nvSpPr>
          <p:cNvPr id="11" name="Text 9"/>
          <p:cNvSpPr/>
          <p:nvPr/>
        </p:nvSpPr>
        <p:spPr>
          <a:xfrm>
            <a:off x="3108960" y="2286000"/>
            <a:ext cx="475488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+852 6193 7889</a:t>
            </a:r>
            <a:endParaRPr lang="en-US" sz="1100" dirty="0"/>
          </a:p>
        </p:txBody>
      </p:sp>
      <p:sp>
        <p:nvSpPr>
          <p:cNvPr id="12" name="Shape 10"/>
          <p:cNvSpPr/>
          <p:nvPr/>
        </p:nvSpPr>
        <p:spPr>
          <a:xfrm>
            <a:off x="1097280" y="2926080"/>
            <a:ext cx="6949440" cy="502920"/>
          </a:xfrm>
          <a:prstGeom prst="roundRect">
            <a:avLst>
              <a:gd name="adj" fmla="val 9091"/>
            </a:avLst>
          </a:prstGeom>
          <a:solidFill>
            <a:srgbClr val="162236"/>
          </a:solidFill>
          <a:ln w="6350">
            <a:solidFill>
              <a:srgbClr val="2A3A4A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1280160" y="2926080"/>
            <a:ext cx="182880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92BDD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WeChat</a:t>
            </a:r>
            <a:endParaRPr lang="en-US" sz="1100" dirty="0"/>
          </a:p>
        </p:txBody>
      </p:sp>
      <p:sp>
        <p:nvSpPr>
          <p:cNvPr id="14" name="Text 12"/>
          <p:cNvSpPr/>
          <p:nvPr/>
        </p:nvSpPr>
        <p:spPr>
          <a:xfrm>
            <a:off x="3108960" y="2926080"/>
            <a:ext cx="475488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+86 13731735051</a:t>
            </a:r>
            <a:endParaRPr lang="en-US" sz="1100" dirty="0"/>
          </a:p>
        </p:txBody>
      </p:sp>
      <p:sp>
        <p:nvSpPr>
          <p:cNvPr id="15" name="Shape 13"/>
          <p:cNvSpPr/>
          <p:nvPr/>
        </p:nvSpPr>
        <p:spPr>
          <a:xfrm>
            <a:off x="1097280" y="3566160"/>
            <a:ext cx="6949440" cy="502920"/>
          </a:xfrm>
          <a:prstGeom prst="roundRect">
            <a:avLst>
              <a:gd name="adj" fmla="val 9091"/>
            </a:avLst>
          </a:prstGeom>
          <a:solidFill>
            <a:srgbClr val="162236"/>
          </a:solidFill>
          <a:ln w="6350">
            <a:solidFill>
              <a:srgbClr val="2A3A4A"/>
            </a:solidFill>
            <a:prstDash val="solid"/>
          </a:ln>
        </p:spPr>
      </p:sp>
      <p:sp>
        <p:nvSpPr>
          <p:cNvPr id="16" name="Text 14"/>
          <p:cNvSpPr/>
          <p:nvPr/>
        </p:nvSpPr>
        <p:spPr>
          <a:xfrm>
            <a:off x="1280160" y="3566160"/>
            <a:ext cx="182880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92BDD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Email</a:t>
            </a:r>
            <a:endParaRPr lang="en-US" sz="1100" dirty="0"/>
          </a:p>
        </p:txBody>
      </p:sp>
      <p:sp>
        <p:nvSpPr>
          <p:cNvPr id="17" name="Text 15"/>
          <p:cNvSpPr/>
          <p:nvPr/>
        </p:nvSpPr>
        <p:spPr>
          <a:xfrm>
            <a:off x="3108960" y="3566160"/>
            <a:ext cx="475488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bailuguang@gmail.com</a:t>
            </a:r>
            <a:endParaRPr lang="en-US" sz="1100" dirty="0"/>
          </a:p>
        </p:txBody>
      </p:sp>
      <p:sp>
        <p:nvSpPr>
          <p:cNvPr id="18" name="Shape 16"/>
          <p:cNvSpPr/>
          <p:nvPr/>
        </p:nvSpPr>
        <p:spPr>
          <a:xfrm>
            <a:off x="1097280" y="4206240"/>
            <a:ext cx="6949440" cy="502920"/>
          </a:xfrm>
          <a:prstGeom prst="roundRect">
            <a:avLst>
              <a:gd name="adj" fmla="val 9091"/>
            </a:avLst>
          </a:prstGeom>
          <a:solidFill>
            <a:srgbClr val="162236"/>
          </a:solidFill>
          <a:ln w="6350">
            <a:solidFill>
              <a:srgbClr val="2A3A4A"/>
            </a:solidFill>
            <a:prstDash val="solid"/>
          </a:ln>
        </p:spPr>
      </p:sp>
      <p:sp>
        <p:nvSpPr>
          <p:cNvPr id="19" name="Text 17"/>
          <p:cNvSpPr/>
          <p:nvPr/>
        </p:nvSpPr>
        <p:spPr>
          <a:xfrm>
            <a:off x="1280160" y="4206240"/>
            <a:ext cx="182880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92BDD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Website</a:t>
            </a:r>
            <a:endParaRPr lang="en-US" sz="1100" dirty="0"/>
          </a:p>
        </p:txBody>
      </p:sp>
      <p:sp>
        <p:nvSpPr>
          <p:cNvPr id="20" name="Text 18"/>
          <p:cNvSpPr/>
          <p:nvPr/>
        </p:nvSpPr>
        <p:spPr>
          <a:xfrm>
            <a:off x="3108960" y="4206240"/>
            <a:ext cx="475488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www.boerjia-oil.com</a:t>
            </a:r>
            <a:endParaRPr lang="en-US" sz="1100" dirty="0"/>
          </a:p>
        </p:txBody>
      </p:sp>
      <p:sp>
        <p:nvSpPr>
          <p:cNvPr id="21" name="Shape 19"/>
          <p:cNvSpPr/>
          <p:nvPr/>
        </p:nvSpPr>
        <p:spPr>
          <a:xfrm>
            <a:off x="1097280" y="4846320"/>
            <a:ext cx="6949440" cy="502920"/>
          </a:xfrm>
          <a:prstGeom prst="roundRect">
            <a:avLst>
              <a:gd name="adj" fmla="val 9091"/>
            </a:avLst>
          </a:prstGeom>
          <a:solidFill>
            <a:srgbClr val="162236"/>
          </a:solidFill>
          <a:ln w="6350">
            <a:solidFill>
              <a:srgbClr val="2A3A4A"/>
            </a:solidFill>
            <a:prstDash val="solid"/>
          </a:ln>
        </p:spPr>
      </p:sp>
      <p:sp>
        <p:nvSpPr>
          <p:cNvPr id="22" name="Text 20"/>
          <p:cNvSpPr/>
          <p:nvPr/>
        </p:nvSpPr>
        <p:spPr>
          <a:xfrm>
            <a:off x="1280160" y="4846320"/>
            <a:ext cx="182880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92BDD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Address</a:t>
            </a:r>
            <a:endParaRPr lang="en-US" sz="1100" dirty="0"/>
          </a:p>
        </p:txBody>
      </p:sp>
      <p:sp>
        <p:nvSpPr>
          <p:cNvPr id="23" name="Text 21"/>
          <p:cNvSpPr/>
          <p:nvPr/>
        </p:nvSpPr>
        <p:spPr>
          <a:xfrm>
            <a:off x="3108960" y="4846320"/>
            <a:ext cx="475488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Shandong Province, China</a:t>
            </a:r>
            <a:endParaRPr lang="en-US" sz="1100" dirty="0"/>
          </a:p>
        </p:txBody>
      </p:sp>
      <p:sp>
        <p:nvSpPr>
          <p:cNvPr id="24" name="Text 22"/>
          <p:cNvSpPr/>
          <p:nvPr/>
        </p:nvSpPr>
        <p:spPr>
          <a:xfrm>
            <a:off x="548640" y="4572000"/>
            <a:ext cx="804672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600" i="1" dirty="0">
                <a:solidFill>
                  <a:srgbClr val="00A3E0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Let's Build a Long-Term Partnership Together</a:t>
            </a:r>
            <a:endParaRPr lang="en-US" sz="16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7</Slides>
  <Notes>7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7</vt:i4>
      </vt:variant>
    </vt:vector>
  </HeadingPairs>
  <TitlesOfParts>
    <vt:vector size="10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</vt:vector>
  </TitlesOfParts>
  <Company>BOERJIA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BOERJIA Lubricants - Company Introduction</dc:title>
  <dc:subject>Professional Lubricant Manufacturer</dc:subject>
  <dc:creator>Shandong Boerjia Petrochemical Technology Co., Ltd.</dc:creator>
  <cp:lastModifiedBy>Shandong Boerjia Petrochemical Technology Co., Ltd.</cp:lastModifiedBy>
  <cp:revision>1</cp:revision>
  <dcterms:created xsi:type="dcterms:W3CDTF">2026-04-29T01:54:36Z</dcterms:created>
  <dcterms:modified xsi:type="dcterms:W3CDTF">2026-04-29T01:54:36Z</dcterms:modified>
</cp:coreProperties>
</file>